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7" r:id="rId3"/>
    <p:sldMasterId id="2147483708" r:id="rId4"/>
    <p:sldMasterId id="2147483709" r:id="rId5"/>
    <p:sldMasterId id="2147483710" r:id="rId6"/>
    <p:sldMasterId id="2147483711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4" r:id="rId17"/>
    <p:sldId id="265" r:id="rId18"/>
    <p:sldId id="267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slideMaster" Target="slideMasters/slideMaster5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20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Z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93" name="Google Shape;393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f75813d5a4_0_8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8" name="Google Shape;408;g3f75813d5a4_0_8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/>
              <a:t>TRANSFER: insert directly after 'UCL Extend: the toolkit's home' from this pack.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/>
              <a:t>1 min. The whole toolkit is one course page: a section per session (Session 0 to Session 9), plus the Google DeepMind course links, Assessment, How to use this toolkit, Templates and design files, and License. Each section expands in place. Captured 2026-08-16 with all ten sessions live (the site held only Session 5 until UCL's end-of-July upload).</a:t>
            </a:r>
            <a:endParaRPr/>
          </a:p>
        </p:txBody>
      </p:sp>
      <p:sp>
        <p:nvSpPr>
          <p:cNvPr id="409" name="Google Shape;409;g3f75813d5a4_0_8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18" name="Google Shape;41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f6a4bff75a_1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g3f6a4bff75a_1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30" name="Google Shape;430;g3f6a4bff75a_1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40" name="Google Shape;44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f6a4bff75a_1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g3f6a4bff75a_1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49" name="Google Shape;449;g3f6a4bff75a_1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58" name="Google Shape;458;p7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f75813d5a4_0_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g3f75813d5a4_0_1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93" name="Google Shape;493;g3f75813d5a4_0_167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h67432b7cf23aa79d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h67432b7cf23aa79d_1_1:notes"/>
          <p:cNvSpPr/>
          <p:nvPr>
            <p:ph idx="2" type="sldImg"/>
          </p:nvPr>
        </p:nvSpPr>
        <p:spPr>
          <a:xfrm>
            <a:off x="555651" y="685800"/>
            <a:ext cx="5747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f3da67b70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1" name="Google Shape;651;g3f3da67b70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52" name="Google Shape;652;g3f3da67b70c_0_0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2136807"/>
            <a:ext cx="10515600" cy="4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4075950" y="-1100943"/>
            <a:ext cx="40401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5" name="Google Shape;95;p16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6" name="Google Shape;96;p16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838200" y="2136807"/>
            <a:ext cx="10515600" cy="4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08" name="Google Shape;108;p18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9" name="Google Shape;109;p18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14" name="Google Shape;114;p19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16" name="Google Shape;116;p19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1" type="body"/>
          </p:nvPr>
        </p:nvSpPr>
        <p:spPr>
          <a:xfrm>
            <a:off x="839788" y="1681163"/>
            <a:ext cx="51579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1" name="Google Shape;121;p20"/>
          <p:cNvSpPr txBox="1"/>
          <p:nvPr>
            <p:ph idx="2" type="body"/>
          </p:nvPr>
        </p:nvSpPr>
        <p:spPr>
          <a:xfrm>
            <a:off x="839788" y="2505075"/>
            <a:ext cx="51579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22" name="Google Shape;122;p20"/>
          <p:cNvSpPr txBox="1"/>
          <p:nvPr>
            <p:ph idx="3" type="body"/>
          </p:nvPr>
        </p:nvSpPr>
        <p:spPr>
          <a:xfrm>
            <a:off x="6172200" y="1681163"/>
            <a:ext cx="51831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3" name="Google Shape;123;p20"/>
          <p:cNvSpPr txBox="1"/>
          <p:nvPr>
            <p:ph idx="4" type="body"/>
          </p:nvPr>
        </p:nvSpPr>
        <p:spPr>
          <a:xfrm>
            <a:off x="6172200" y="2505075"/>
            <a:ext cx="51831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24" name="Google Shape;124;p20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5" name="Google Shape;125;p20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9" name="Google Shape;129;p21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0" name="Google Shape;130;p21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4" name="Google Shape;134;p22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5" name="Google Shape;135;p22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839788" y="457200"/>
            <a:ext cx="3932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5183188" y="987425"/>
            <a:ext cx="61725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9" name="Google Shape;139;p23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140" name="Google Shape;140;p23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41" name="Google Shape;141;p23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42" name="Google Shape;142;p23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839788" y="457200"/>
            <a:ext cx="3932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45" name="Google Shape;145;p24"/>
          <p:cNvSpPr/>
          <p:nvPr>
            <p:ph idx="2" type="pic"/>
          </p:nvPr>
        </p:nvSpPr>
        <p:spPr>
          <a:xfrm>
            <a:off x="5183188" y="987425"/>
            <a:ext cx="61725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24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147" name="Google Shape;147;p24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48" name="Google Shape;148;p24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49" name="Google Shape;149;p24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 rot="5400000">
            <a:off x="4075950" y="-1100943"/>
            <a:ext cx="40401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53" name="Google Shape;153;p25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4" name="Google Shape;154;p25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5" name="Google Shape;155;p25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59" name="Google Shape;159;p26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60" name="Google Shape;160;p26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61" name="Google Shape;161;p26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8" name="Google Shape;178;p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p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33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0" name="Google Shape;190;p3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4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96" name="Google Shape;196;p34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97" name="Google Shape;197;p3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3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3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5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3" name="Google Shape;203;p35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04" name="Google Shape;204;p35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5" name="Google Shape;205;p35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06" name="Google Shape;206;p3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3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3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3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3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3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37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17" name="Google Shape;217;p37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18" name="Google Shape;218;p3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3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3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8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3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38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25" name="Google Shape;225;p3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9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1" name="Google Shape;231;p3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3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0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40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7" name="Google Shape;237;p4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4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4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2"/>
          <p:cNvSpPr txBox="1"/>
          <p:nvPr>
            <p:ph idx="10" type="dt"/>
          </p:nvPr>
        </p:nvSpPr>
        <p:spPr>
          <a:xfrm>
            <a:off x="521341" y="5766118"/>
            <a:ext cx="2432927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42"/>
          <p:cNvSpPr txBox="1"/>
          <p:nvPr>
            <p:ph idx="11" type="ftr"/>
          </p:nvPr>
        </p:nvSpPr>
        <p:spPr>
          <a:xfrm>
            <a:off x="3562500" y="5766118"/>
            <a:ext cx="3301829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42"/>
          <p:cNvSpPr txBox="1"/>
          <p:nvPr>
            <p:ph idx="12" type="sldNum"/>
          </p:nvPr>
        </p:nvSpPr>
        <p:spPr>
          <a:xfrm>
            <a:off x="7472560" y="5766118"/>
            <a:ext cx="2432927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3"/>
          <p:cNvSpPr txBox="1"/>
          <p:nvPr>
            <p:ph type="ctrTitle"/>
          </p:nvPr>
        </p:nvSpPr>
        <p:spPr>
          <a:xfrm>
            <a:off x="782012" y="1932600"/>
            <a:ext cx="8862804" cy="1333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43"/>
          <p:cNvSpPr txBox="1"/>
          <p:nvPr>
            <p:ph idx="1" type="subTitle"/>
          </p:nvPr>
        </p:nvSpPr>
        <p:spPr>
          <a:xfrm>
            <a:off x="1564024" y="3525339"/>
            <a:ext cx="7298780" cy="1589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3" name="Google Shape;253;p43"/>
          <p:cNvSpPr txBox="1"/>
          <p:nvPr>
            <p:ph idx="10" type="dt"/>
          </p:nvPr>
        </p:nvSpPr>
        <p:spPr>
          <a:xfrm>
            <a:off x="521341" y="5766118"/>
            <a:ext cx="2432927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43"/>
          <p:cNvSpPr txBox="1"/>
          <p:nvPr>
            <p:ph idx="11" type="ftr"/>
          </p:nvPr>
        </p:nvSpPr>
        <p:spPr>
          <a:xfrm>
            <a:off x="3562500" y="5766118"/>
            <a:ext cx="3301829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43"/>
          <p:cNvSpPr txBox="1"/>
          <p:nvPr>
            <p:ph idx="12" type="sldNum"/>
          </p:nvPr>
        </p:nvSpPr>
        <p:spPr>
          <a:xfrm>
            <a:off x="7472560" y="5766118"/>
            <a:ext cx="2432927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4"/>
          <p:cNvSpPr txBox="1"/>
          <p:nvPr>
            <p:ph type="title"/>
          </p:nvPr>
        </p:nvSpPr>
        <p:spPr>
          <a:xfrm>
            <a:off x="521341" y="249136"/>
            <a:ext cx="9384145" cy="1036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44"/>
          <p:cNvSpPr txBox="1"/>
          <p:nvPr>
            <p:ph idx="1" type="body"/>
          </p:nvPr>
        </p:nvSpPr>
        <p:spPr>
          <a:xfrm>
            <a:off x="521341" y="1451610"/>
            <a:ext cx="9384145" cy="4105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9" name="Google Shape;259;p44"/>
          <p:cNvSpPr txBox="1"/>
          <p:nvPr>
            <p:ph idx="10" type="dt"/>
          </p:nvPr>
        </p:nvSpPr>
        <p:spPr>
          <a:xfrm>
            <a:off x="521341" y="5766118"/>
            <a:ext cx="2432927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44"/>
          <p:cNvSpPr txBox="1"/>
          <p:nvPr>
            <p:ph idx="11" type="ftr"/>
          </p:nvPr>
        </p:nvSpPr>
        <p:spPr>
          <a:xfrm>
            <a:off x="3562500" y="5766118"/>
            <a:ext cx="3301829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44"/>
          <p:cNvSpPr txBox="1"/>
          <p:nvPr>
            <p:ph idx="12" type="sldNum"/>
          </p:nvPr>
        </p:nvSpPr>
        <p:spPr>
          <a:xfrm>
            <a:off x="7472560" y="5766118"/>
            <a:ext cx="2432927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5"/>
          <p:cNvSpPr txBox="1"/>
          <p:nvPr>
            <p:ph type="title"/>
          </p:nvPr>
        </p:nvSpPr>
        <p:spPr>
          <a:xfrm>
            <a:off x="823648" y="3997688"/>
            <a:ext cx="8862804" cy="12355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45"/>
          <p:cNvSpPr txBox="1"/>
          <p:nvPr>
            <p:ph idx="1" type="body"/>
          </p:nvPr>
        </p:nvSpPr>
        <p:spPr>
          <a:xfrm>
            <a:off x="823648" y="2636804"/>
            <a:ext cx="8862804" cy="13608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5" name="Google Shape;265;p45"/>
          <p:cNvSpPr txBox="1"/>
          <p:nvPr>
            <p:ph idx="10" type="dt"/>
          </p:nvPr>
        </p:nvSpPr>
        <p:spPr>
          <a:xfrm>
            <a:off x="521341" y="5766118"/>
            <a:ext cx="2432927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45"/>
          <p:cNvSpPr txBox="1"/>
          <p:nvPr>
            <p:ph idx="11" type="ftr"/>
          </p:nvPr>
        </p:nvSpPr>
        <p:spPr>
          <a:xfrm>
            <a:off x="3562500" y="5766118"/>
            <a:ext cx="3301829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45"/>
          <p:cNvSpPr txBox="1"/>
          <p:nvPr>
            <p:ph idx="12" type="sldNum"/>
          </p:nvPr>
        </p:nvSpPr>
        <p:spPr>
          <a:xfrm>
            <a:off x="7472560" y="5766118"/>
            <a:ext cx="2432927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6"/>
          <p:cNvSpPr txBox="1"/>
          <p:nvPr>
            <p:ph type="title"/>
          </p:nvPr>
        </p:nvSpPr>
        <p:spPr>
          <a:xfrm>
            <a:off x="521341" y="249136"/>
            <a:ext cx="9384145" cy="1036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46"/>
          <p:cNvSpPr txBox="1"/>
          <p:nvPr>
            <p:ph idx="1" type="body"/>
          </p:nvPr>
        </p:nvSpPr>
        <p:spPr>
          <a:xfrm>
            <a:off x="521341" y="1451610"/>
            <a:ext cx="4605182" cy="4105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71" name="Google Shape;271;p46"/>
          <p:cNvSpPr txBox="1"/>
          <p:nvPr>
            <p:ph idx="2" type="body"/>
          </p:nvPr>
        </p:nvSpPr>
        <p:spPr>
          <a:xfrm>
            <a:off x="5300304" y="1451610"/>
            <a:ext cx="4605182" cy="4105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72" name="Google Shape;272;p46"/>
          <p:cNvSpPr txBox="1"/>
          <p:nvPr>
            <p:ph idx="10" type="dt"/>
          </p:nvPr>
        </p:nvSpPr>
        <p:spPr>
          <a:xfrm>
            <a:off x="521341" y="5766118"/>
            <a:ext cx="2432927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46"/>
          <p:cNvSpPr txBox="1"/>
          <p:nvPr>
            <p:ph idx="11" type="ftr"/>
          </p:nvPr>
        </p:nvSpPr>
        <p:spPr>
          <a:xfrm>
            <a:off x="3562500" y="5766118"/>
            <a:ext cx="3301829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46"/>
          <p:cNvSpPr txBox="1"/>
          <p:nvPr>
            <p:ph idx="12" type="sldNum"/>
          </p:nvPr>
        </p:nvSpPr>
        <p:spPr>
          <a:xfrm>
            <a:off x="7472560" y="5766118"/>
            <a:ext cx="2432927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7"/>
          <p:cNvSpPr txBox="1"/>
          <p:nvPr>
            <p:ph type="title"/>
          </p:nvPr>
        </p:nvSpPr>
        <p:spPr>
          <a:xfrm>
            <a:off x="521341" y="249136"/>
            <a:ext cx="9384145" cy="1036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47"/>
          <p:cNvSpPr txBox="1"/>
          <p:nvPr>
            <p:ph idx="1" type="body"/>
          </p:nvPr>
        </p:nvSpPr>
        <p:spPr>
          <a:xfrm>
            <a:off x="521341" y="1392567"/>
            <a:ext cx="4606993" cy="5803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78" name="Google Shape;278;p47"/>
          <p:cNvSpPr txBox="1"/>
          <p:nvPr>
            <p:ph idx="2" type="body"/>
          </p:nvPr>
        </p:nvSpPr>
        <p:spPr>
          <a:xfrm>
            <a:off x="521341" y="1972922"/>
            <a:ext cx="4606993" cy="3584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79" name="Google Shape;279;p47"/>
          <p:cNvSpPr txBox="1"/>
          <p:nvPr>
            <p:ph idx="3" type="body"/>
          </p:nvPr>
        </p:nvSpPr>
        <p:spPr>
          <a:xfrm>
            <a:off x="5296684" y="1392567"/>
            <a:ext cx="4608803" cy="5803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80" name="Google Shape;280;p47"/>
          <p:cNvSpPr txBox="1"/>
          <p:nvPr>
            <p:ph idx="4" type="body"/>
          </p:nvPr>
        </p:nvSpPr>
        <p:spPr>
          <a:xfrm>
            <a:off x="5296684" y="1972922"/>
            <a:ext cx="4608803" cy="3584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81" name="Google Shape;281;p47"/>
          <p:cNvSpPr txBox="1"/>
          <p:nvPr>
            <p:ph idx="10" type="dt"/>
          </p:nvPr>
        </p:nvSpPr>
        <p:spPr>
          <a:xfrm>
            <a:off x="521341" y="5766118"/>
            <a:ext cx="2432927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47"/>
          <p:cNvSpPr txBox="1"/>
          <p:nvPr>
            <p:ph idx="11" type="ftr"/>
          </p:nvPr>
        </p:nvSpPr>
        <p:spPr>
          <a:xfrm>
            <a:off x="3562500" y="5766118"/>
            <a:ext cx="3301829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47"/>
          <p:cNvSpPr txBox="1"/>
          <p:nvPr>
            <p:ph idx="12" type="sldNum"/>
          </p:nvPr>
        </p:nvSpPr>
        <p:spPr>
          <a:xfrm>
            <a:off x="7472560" y="5766118"/>
            <a:ext cx="2432927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8"/>
          <p:cNvSpPr txBox="1"/>
          <p:nvPr>
            <p:ph type="title"/>
          </p:nvPr>
        </p:nvSpPr>
        <p:spPr>
          <a:xfrm>
            <a:off x="521341" y="249136"/>
            <a:ext cx="9384145" cy="1036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48"/>
          <p:cNvSpPr txBox="1"/>
          <p:nvPr>
            <p:ph idx="10" type="dt"/>
          </p:nvPr>
        </p:nvSpPr>
        <p:spPr>
          <a:xfrm>
            <a:off x="521341" y="5766118"/>
            <a:ext cx="2432927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48"/>
          <p:cNvSpPr txBox="1"/>
          <p:nvPr>
            <p:ph idx="11" type="ftr"/>
          </p:nvPr>
        </p:nvSpPr>
        <p:spPr>
          <a:xfrm>
            <a:off x="3562500" y="5766118"/>
            <a:ext cx="3301829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48"/>
          <p:cNvSpPr txBox="1"/>
          <p:nvPr>
            <p:ph idx="12" type="sldNum"/>
          </p:nvPr>
        </p:nvSpPr>
        <p:spPr>
          <a:xfrm>
            <a:off x="7472560" y="5766118"/>
            <a:ext cx="2432927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9"/>
          <p:cNvSpPr txBox="1"/>
          <p:nvPr>
            <p:ph type="title"/>
          </p:nvPr>
        </p:nvSpPr>
        <p:spPr>
          <a:xfrm>
            <a:off x="521341" y="247695"/>
            <a:ext cx="3430355" cy="10541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49"/>
          <p:cNvSpPr txBox="1"/>
          <p:nvPr>
            <p:ph idx="1" type="body"/>
          </p:nvPr>
        </p:nvSpPr>
        <p:spPr>
          <a:xfrm>
            <a:off x="4076600" y="247695"/>
            <a:ext cx="5828887" cy="5309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92" name="Google Shape;292;p49"/>
          <p:cNvSpPr txBox="1"/>
          <p:nvPr>
            <p:ph idx="2" type="body"/>
          </p:nvPr>
        </p:nvSpPr>
        <p:spPr>
          <a:xfrm>
            <a:off x="521341" y="1301841"/>
            <a:ext cx="3430355" cy="4255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93" name="Google Shape;293;p49"/>
          <p:cNvSpPr txBox="1"/>
          <p:nvPr>
            <p:ph idx="10" type="dt"/>
          </p:nvPr>
        </p:nvSpPr>
        <p:spPr>
          <a:xfrm>
            <a:off x="521341" y="5766118"/>
            <a:ext cx="2432927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49"/>
          <p:cNvSpPr txBox="1"/>
          <p:nvPr>
            <p:ph idx="11" type="ftr"/>
          </p:nvPr>
        </p:nvSpPr>
        <p:spPr>
          <a:xfrm>
            <a:off x="3562500" y="5766118"/>
            <a:ext cx="3301829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49"/>
          <p:cNvSpPr txBox="1"/>
          <p:nvPr>
            <p:ph idx="12" type="sldNum"/>
          </p:nvPr>
        </p:nvSpPr>
        <p:spPr>
          <a:xfrm>
            <a:off x="7472560" y="5766118"/>
            <a:ext cx="2432927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0"/>
          <p:cNvSpPr txBox="1"/>
          <p:nvPr>
            <p:ph type="title"/>
          </p:nvPr>
        </p:nvSpPr>
        <p:spPr>
          <a:xfrm>
            <a:off x="2043731" y="4354830"/>
            <a:ext cx="6256097" cy="5141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50"/>
          <p:cNvSpPr/>
          <p:nvPr>
            <p:ph idx="2" type="pic"/>
          </p:nvPr>
        </p:nvSpPr>
        <p:spPr>
          <a:xfrm>
            <a:off x="2043731" y="555874"/>
            <a:ext cx="6256097" cy="3732711"/>
          </a:xfrm>
          <a:prstGeom prst="rect">
            <a:avLst/>
          </a:prstGeom>
          <a:noFill/>
          <a:ln>
            <a:noFill/>
          </a:ln>
        </p:spPr>
      </p:sp>
      <p:sp>
        <p:nvSpPr>
          <p:cNvPr id="299" name="Google Shape;299;p50"/>
          <p:cNvSpPr txBox="1"/>
          <p:nvPr>
            <p:ph idx="1" type="body"/>
          </p:nvPr>
        </p:nvSpPr>
        <p:spPr>
          <a:xfrm>
            <a:off x="2043731" y="4868942"/>
            <a:ext cx="6256097" cy="730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00" name="Google Shape;300;p50"/>
          <p:cNvSpPr txBox="1"/>
          <p:nvPr>
            <p:ph idx="10" type="dt"/>
          </p:nvPr>
        </p:nvSpPr>
        <p:spPr>
          <a:xfrm>
            <a:off x="521341" y="5766118"/>
            <a:ext cx="2432927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50"/>
          <p:cNvSpPr txBox="1"/>
          <p:nvPr>
            <p:ph idx="11" type="ftr"/>
          </p:nvPr>
        </p:nvSpPr>
        <p:spPr>
          <a:xfrm>
            <a:off x="3562500" y="5766118"/>
            <a:ext cx="3301829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50"/>
          <p:cNvSpPr txBox="1"/>
          <p:nvPr>
            <p:ph idx="12" type="sldNum"/>
          </p:nvPr>
        </p:nvSpPr>
        <p:spPr>
          <a:xfrm>
            <a:off x="7472560" y="5766118"/>
            <a:ext cx="2432927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1"/>
          <p:cNvSpPr txBox="1"/>
          <p:nvPr>
            <p:ph type="title"/>
          </p:nvPr>
        </p:nvSpPr>
        <p:spPr>
          <a:xfrm>
            <a:off x="521341" y="249136"/>
            <a:ext cx="9384145" cy="1036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51"/>
          <p:cNvSpPr txBox="1"/>
          <p:nvPr>
            <p:ph idx="1" type="body"/>
          </p:nvPr>
        </p:nvSpPr>
        <p:spPr>
          <a:xfrm rot="5400000">
            <a:off x="3160567" y="-1187615"/>
            <a:ext cx="4105695" cy="93841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6" name="Google Shape;306;p51"/>
          <p:cNvSpPr txBox="1"/>
          <p:nvPr>
            <p:ph idx="10" type="dt"/>
          </p:nvPr>
        </p:nvSpPr>
        <p:spPr>
          <a:xfrm>
            <a:off x="521341" y="5766118"/>
            <a:ext cx="2432927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51"/>
          <p:cNvSpPr txBox="1"/>
          <p:nvPr>
            <p:ph idx="11" type="ftr"/>
          </p:nvPr>
        </p:nvSpPr>
        <p:spPr>
          <a:xfrm>
            <a:off x="3562500" y="5766118"/>
            <a:ext cx="3301829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51"/>
          <p:cNvSpPr txBox="1"/>
          <p:nvPr>
            <p:ph idx="12" type="sldNum"/>
          </p:nvPr>
        </p:nvSpPr>
        <p:spPr>
          <a:xfrm>
            <a:off x="7472560" y="5766118"/>
            <a:ext cx="2432927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2"/>
          <p:cNvSpPr txBox="1"/>
          <p:nvPr>
            <p:ph type="title"/>
          </p:nvPr>
        </p:nvSpPr>
        <p:spPr>
          <a:xfrm rot="5400000">
            <a:off x="6078384" y="1730202"/>
            <a:ext cx="5308169" cy="2346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52"/>
          <p:cNvSpPr txBox="1"/>
          <p:nvPr>
            <p:ph idx="1" type="body"/>
          </p:nvPr>
        </p:nvSpPr>
        <p:spPr>
          <a:xfrm rot="5400000">
            <a:off x="1299421" y="-528944"/>
            <a:ext cx="5308169" cy="6864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2" name="Google Shape;312;p52"/>
          <p:cNvSpPr txBox="1"/>
          <p:nvPr>
            <p:ph idx="10" type="dt"/>
          </p:nvPr>
        </p:nvSpPr>
        <p:spPr>
          <a:xfrm>
            <a:off x="521341" y="5766118"/>
            <a:ext cx="2432927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52"/>
          <p:cNvSpPr txBox="1"/>
          <p:nvPr>
            <p:ph idx="11" type="ftr"/>
          </p:nvPr>
        </p:nvSpPr>
        <p:spPr>
          <a:xfrm>
            <a:off x="3562500" y="5766118"/>
            <a:ext cx="3301829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52"/>
          <p:cNvSpPr txBox="1"/>
          <p:nvPr>
            <p:ph idx="12" type="sldNum"/>
          </p:nvPr>
        </p:nvSpPr>
        <p:spPr>
          <a:xfrm>
            <a:off x="7472560" y="5766118"/>
            <a:ext cx="2432927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4"/>
          <p:cNvSpPr txBox="1"/>
          <p:nvPr>
            <p:ph idx="10" type="dt"/>
          </p:nvPr>
        </p:nvSpPr>
        <p:spPr>
          <a:xfrm>
            <a:off x="457196" y="6356350"/>
            <a:ext cx="21335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54"/>
          <p:cNvSpPr txBox="1"/>
          <p:nvPr>
            <p:ph idx="11" type="ftr"/>
          </p:nvPr>
        </p:nvSpPr>
        <p:spPr>
          <a:xfrm>
            <a:off x="3124174" y="6356350"/>
            <a:ext cx="28955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54"/>
          <p:cNvSpPr txBox="1"/>
          <p:nvPr>
            <p:ph idx="12" type="sldNum"/>
          </p:nvPr>
        </p:nvSpPr>
        <p:spPr>
          <a:xfrm>
            <a:off x="6553146" y="6356350"/>
            <a:ext cx="21335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5"/>
          <p:cNvSpPr txBox="1"/>
          <p:nvPr>
            <p:ph type="ctrTitle"/>
          </p:nvPr>
        </p:nvSpPr>
        <p:spPr>
          <a:xfrm>
            <a:off x="685794" y="2130425"/>
            <a:ext cx="7772336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55"/>
          <p:cNvSpPr txBox="1"/>
          <p:nvPr>
            <p:ph idx="1" type="subTitle"/>
          </p:nvPr>
        </p:nvSpPr>
        <p:spPr>
          <a:xfrm>
            <a:off x="1371589" y="3886200"/>
            <a:ext cx="6400748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8" name="Google Shape;328;p55"/>
          <p:cNvSpPr txBox="1"/>
          <p:nvPr>
            <p:ph idx="10" type="dt"/>
          </p:nvPr>
        </p:nvSpPr>
        <p:spPr>
          <a:xfrm>
            <a:off x="457196" y="6356350"/>
            <a:ext cx="21335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55"/>
          <p:cNvSpPr txBox="1"/>
          <p:nvPr>
            <p:ph idx="11" type="ftr"/>
          </p:nvPr>
        </p:nvSpPr>
        <p:spPr>
          <a:xfrm>
            <a:off x="3124174" y="6356350"/>
            <a:ext cx="28955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p55"/>
          <p:cNvSpPr txBox="1"/>
          <p:nvPr>
            <p:ph idx="12" type="sldNum"/>
          </p:nvPr>
        </p:nvSpPr>
        <p:spPr>
          <a:xfrm>
            <a:off x="6553146" y="6356350"/>
            <a:ext cx="21335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6"/>
          <p:cNvSpPr txBox="1"/>
          <p:nvPr>
            <p:ph type="title"/>
          </p:nvPr>
        </p:nvSpPr>
        <p:spPr>
          <a:xfrm>
            <a:off x="457196" y="274638"/>
            <a:ext cx="822953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56"/>
          <p:cNvSpPr txBox="1"/>
          <p:nvPr>
            <p:ph idx="1" type="body"/>
          </p:nvPr>
        </p:nvSpPr>
        <p:spPr>
          <a:xfrm>
            <a:off x="457196" y="1600200"/>
            <a:ext cx="8229533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4" name="Google Shape;334;p56"/>
          <p:cNvSpPr txBox="1"/>
          <p:nvPr>
            <p:ph idx="10" type="dt"/>
          </p:nvPr>
        </p:nvSpPr>
        <p:spPr>
          <a:xfrm>
            <a:off x="457196" y="6356350"/>
            <a:ext cx="21335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56"/>
          <p:cNvSpPr txBox="1"/>
          <p:nvPr>
            <p:ph idx="11" type="ftr"/>
          </p:nvPr>
        </p:nvSpPr>
        <p:spPr>
          <a:xfrm>
            <a:off x="3124174" y="6356350"/>
            <a:ext cx="28955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56"/>
          <p:cNvSpPr txBox="1"/>
          <p:nvPr>
            <p:ph idx="12" type="sldNum"/>
          </p:nvPr>
        </p:nvSpPr>
        <p:spPr>
          <a:xfrm>
            <a:off x="6553146" y="6356350"/>
            <a:ext cx="21335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7"/>
          <p:cNvSpPr txBox="1"/>
          <p:nvPr>
            <p:ph type="title"/>
          </p:nvPr>
        </p:nvSpPr>
        <p:spPr>
          <a:xfrm>
            <a:off x="722307" y="4406900"/>
            <a:ext cx="7772336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9" name="Google Shape;339;p57"/>
          <p:cNvSpPr txBox="1"/>
          <p:nvPr>
            <p:ph idx="1" type="body"/>
          </p:nvPr>
        </p:nvSpPr>
        <p:spPr>
          <a:xfrm>
            <a:off x="722307" y="2906713"/>
            <a:ext cx="7772336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0" name="Google Shape;340;p57"/>
          <p:cNvSpPr txBox="1"/>
          <p:nvPr>
            <p:ph idx="10" type="dt"/>
          </p:nvPr>
        </p:nvSpPr>
        <p:spPr>
          <a:xfrm>
            <a:off x="457196" y="6356350"/>
            <a:ext cx="21335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57"/>
          <p:cNvSpPr txBox="1"/>
          <p:nvPr>
            <p:ph idx="11" type="ftr"/>
          </p:nvPr>
        </p:nvSpPr>
        <p:spPr>
          <a:xfrm>
            <a:off x="3124174" y="6356350"/>
            <a:ext cx="28955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57"/>
          <p:cNvSpPr txBox="1"/>
          <p:nvPr>
            <p:ph idx="12" type="sldNum"/>
          </p:nvPr>
        </p:nvSpPr>
        <p:spPr>
          <a:xfrm>
            <a:off x="6553146" y="6356350"/>
            <a:ext cx="21335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8"/>
          <p:cNvSpPr txBox="1"/>
          <p:nvPr>
            <p:ph type="title"/>
          </p:nvPr>
        </p:nvSpPr>
        <p:spPr>
          <a:xfrm>
            <a:off x="457196" y="274638"/>
            <a:ext cx="822953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5" name="Google Shape;345;p58"/>
          <p:cNvSpPr txBox="1"/>
          <p:nvPr>
            <p:ph idx="1" type="body"/>
          </p:nvPr>
        </p:nvSpPr>
        <p:spPr>
          <a:xfrm>
            <a:off x="457196" y="1600200"/>
            <a:ext cx="4038567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6" name="Google Shape;346;p58"/>
          <p:cNvSpPr txBox="1"/>
          <p:nvPr>
            <p:ph idx="2" type="body"/>
          </p:nvPr>
        </p:nvSpPr>
        <p:spPr>
          <a:xfrm>
            <a:off x="4648162" y="1600200"/>
            <a:ext cx="4038567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7" name="Google Shape;347;p58"/>
          <p:cNvSpPr txBox="1"/>
          <p:nvPr>
            <p:ph idx="10" type="dt"/>
          </p:nvPr>
        </p:nvSpPr>
        <p:spPr>
          <a:xfrm>
            <a:off x="457196" y="6356350"/>
            <a:ext cx="21335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8" name="Google Shape;348;p58"/>
          <p:cNvSpPr txBox="1"/>
          <p:nvPr>
            <p:ph idx="11" type="ftr"/>
          </p:nvPr>
        </p:nvSpPr>
        <p:spPr>
          <a:xfrm>
            <a:off x="3124174" y="6356350"/>
            <a:ext cx="28955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58"/>
          <p:cNvSpPr txBox="1"/>
          <p:nvPr>
            <p:ph idx="12" type="sldNum"/>
          </p:nvPr>
        </p:nvSpPr>
        <p:spPr>
          <a:xfrm>
            <a:off x="6553146" y="6356350"/>
            <a:ext cx="21335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9"/>
          <p:cNvSpPr txBox="1"/>
          <p:nvPr>
            <p:ph type="title"/>
          </p:nvPr>
        </p:nvSpPr>
        <p:spPr>
          <a:xfrm>
            <a:off x="457196" y="274638"/>
            <a:ext cx="822953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59"/>
          <p:cNvSpPr txBox="1"/>
          <p:nvPr>
            <p:ph idx="1" type="body"/>
          </p:nvPr>
        </p:nvSpPr>
        <p:spPr>
          <a:xfrm>
            <a:off x="457196" y="1535113"/>
            <a:ext cx="404015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3" name="Google Shape;353;p59"/>
          <p:cNvSpPr txBox="1"/>
          <p:nvPr>
            <p:ph idx="2" type="body"/>
          </p:nvPr>
        </p:nvSpPr>
        <p:spPr>
          <a:xfrm>
            <a:off x="457196" y="2174875"/>
            <a:ext cx="404015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54" name="Google Shape;354;p59"/>
          <p:cNvSpPr txBox="1"/>
          <p:nvPr>
            <p:ph idx="3" type="body"/>
          </p:nvPr>
        </p:nvSpPr>
        <p:spPr>
          <a:xfrm>
            <a:off x="4644987" y="1535113"/>
            <a:ext cx="4041742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5" name="Google Shape;355;p59"/>
          <p:cNvSpPr txBox="1"/>
          <p:nvPr>
            <p:ph idx="4" type="body"/>
          </p:nvPr>
        </p:nvSpPr>
        <p:spPr>
          <a:xfrm>
            <a:off x="4644987" y="2174875"/>
            <a:ext cx="4041742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56" name="Google Shape;356;p59"/>
          <p:cNvSpPr txBox="1"/>
          <p:nvPr>
            <p:ph idx="10" type="dt"/>
          </p:nvPr>
        </p:nvSpPr>
        <p:spPr>
          <a:xfrm>
            <a:off x="457196" y="6356350"/>
            <a:ext cx="21335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59"/>
          <p:cNvSpPr txBox="1"/>
          <p:nvPr>
            <p:ph idx="11" type="ftr"/>
          </p:nvPr>
        </p:nvSpPr>
        <p:spPr>
          <a:xfrm>
            <a:off x="3124174" y="6356350"/>
            <a:ext cx="28955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59"/>
          <p:cNvSpPr txBox="1"/>
          <p:nvPr>
            <p:ph idx="12" type="sldNum"/>
          </p:nvPr>
        </p:nvSpPr>
        <p:spPr>
          <a:xfrm>
            <a:off x="6553146" y="6356350"/>
            <a:ext cx="21335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0"/>
          <p:cNvSpPr txBox="1"/>
          <p:nvPr>
            <p:ph type="title"/>
          </p:nvPr>
        </p:nvSpPr>
        <p:spPr>
          <a:xfrm>
            <a:off x="457196" y="274638"/>
            <a:ext cx="822953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60"/>
          <p:cNvSpPr txBox="1"/>
          <p:nvPr>
            <p:ph idx="10" type="dt"/>
          </p:nvPr>
        </p:nvSpPr>
        <p:spPr>
          <a:xfrm>
            <a:off x="457196" y="6356350"/>
            <a:ext cx="21335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60"/>
          <p:cNvSpPr txBox="1"/>
          <p:nvPr>
            <p:ph idx="11" type="ftr"/>
          </p:nvPr>
        </p:nvSpPr>
        <p:spPr>
          <a:xfrm>
            <a:off x="3124174" y="6356350"/>
            <a:ext cx="28955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p60"/>
          <p:cNvSpPr txBox="1"/>
          <p:nvPr>
            <p:ph idx="12" type="sldNum"/>
          </p:nvPr>
        </p:nvSpPr>
        <p:spPr>
          <a:xfrm>
            <a:off x="6553146" y="6356350"/>
            <a:ext cx="21335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1"/>
          <p:cNvSpPr txBox="1"/>
          <p:nvPr>
            <p:ph type="title"/>
          </p:nvPr>
        </p:nvSpPr>
        <p:spPr>
          <a:xfrm>
            <a:off x="457196" y="273050"/>
            <a:ext cx="3008288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61"/>
          <p:cNvSpPr txBox="1"/>
          <p:nvPr>
            <p:ph idx="1" type="body"/>
          </p:nvPr>
        </p:nvSpPr>
        <p:spPr>
          <a:xfrm>
            <a:off x="3575021" y="273050"/>
            <a:ext cx="5111708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67" name="Google Shape;367;p61"/>
          <p:cNvSpPr txBox="1"/>
          <p:nvPr>
            <p:ph idx="2" type="body"/>
          </p:nvPr>
        </p:nvSpPr>
        <p:spPr>
          <a:xfrm>
            <a:off x="457196" y="1435100"/>
            <a:ext cx="3008288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68" name="Google Shape;368;p61"/>
          <p:cNvSpPr txBox="1"/>
          <p:nvPr>
            <p:ph idx="10" type="dt"/>
          </p:nvPr>
        </p:nvSpPr>
        <p:spPr>
          <a:xfrm>
            <a:off x="457196" y="6356350"/>
            <a:ext cx="21335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61"/>
          <p:cNvSpPr txBox="1"/>
          <p:nvPr>
            <p:ph idx="11" type="ftr"/>
          </p:nvPr>
        </p:nvSpPr>
        <p:spPr>
          <a:xfrm>
            <a:off x="3124174" y="6356350"/>
            <a:ext cx="28955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61"/>
          <p:cNvSpPr txBox="1"/>
          <p:nvPr>
            <p:ph idx="12" type="sldNum"/>
          </p:nvPr>
        </p:nvSpPr>
        <p:spPr>
          <a:xfrm>
            <a:off x="6553146" y="6356350"/>
            <a:ext cx="21335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62"/>
          <p:cNvSpPr txBox="1"/>
          <p:nvPr>
            <p:ph type="title"/>
          </p:nvPr>
        </p:nvSpPr>
        <p:spPr>
          <a:xfrm>
            <a:off x="1792273" y="4800600"/>
            <a:ext cx="5486355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62"/>
          <p:cNvSpPr/>
          <p:nvPr>
            <p:ph idx="2" type="pic"/>
          </p:nvPr>
        </p:nvSpPr>
        <p:spPr>
          <a:xfrm>
            <a:off x="1792273" y="612775"/>
            <a:ext cx="5486355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62"/>
          <p:cNvSpPr txBox="1"/>
          <p:nvPr>
            <p:ph idx="1" type="body"/>
          </p:nvPr>
        </p:nvSpPr>
        <p:spPr>
          <a:xfrm>
            <a:off x="1792273" y="5367338"/>
            <a:ext cx="5486355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75" name="Google Shape;375;p62"/>
          <p:cNvSpPr txBox="1"/>
          <p:nvPr>
            <p:ph idx="10" type="dt"/>
          </p:nvPr>
        </p:nvSpPr>
        <p:spPr>
          <a:xfrm>
            <a:off x="457196" y="6356350"/>
            <a:ext cx="21335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62"/>
          <p:cNvSpPr txBox="1"/>
          <p:nvPr>
            <p:ph idx="11" type="ftr"/>
          </p:nvPr>
        </p:nvSpPr>
        <p:spPr>
          <a:xfrm>
            <a:off x="3124174" y="6356350"/>
            <a:ext cx="28955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p62"/>
          <p:cNvSpPr txBox="1"/>
          <p:nvPr>
            <p:ph idx="12" type="sldNum"/>
          </p:nvPr>
        </p:nvSpPr>
        <p:spPr>
          <a:xfrm>
            <a:off x="6553146" y="6356350"/>
            <a:ext cx="21335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/>
          <p:cNvSpPr txBox="1"/>
          <p:nvPr>
            <p:ph type="title"/>
          </p:nvPr>
        </p:nvSpPr>
        <p:spPr>
          <a:xfrm>
            <a:off x="457196" y="274638"/>
            <a:ext cx="822953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63"/>
          <p:cNvSpPr txBox="1"/>
          <p:nvPr>
            <p:ph idx="1" type="body"/>
          </p:nvPr>
        </p:nvSpPr>
        <p:spPr>
          <a:xfrm rot="5400000">
            <a:off x="2308981" y="-251585"/>
            <a:ext cx="4525963" cy="82295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1" name="Google Shape;381;p63"/>
          <p:cNvSpPr txBox="1"/>
          <p:nvPr>
            <p:ph idx="10" type="dt"/>
          </p:nvPr>
        </p:nvSpPr>
        <p:spPr>
          <a:xfrm>
            <a:off x="457196" y="6356350"/>
            <a:ext cx="21335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63"/>
          <p:cNvSpPr txBox="1"/>
          <p:nvPr>
            <p:ph idx="11" type="ftr"/>
          </p:nvPr>
        </p:nvSpPr>
        <p:spPr>
          <a:xfrm>
            <a:off x="3124174" y="6356350"/>
            <a:ext cx="28955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p63"/>
          <p:cNvSpPr txBox="1"/>
          <p:nvPr>
            <p:ph idx="12" type="sldNum"/>
          </p:nvPr>
        </p:nvSpPr>
        <p:spPr>
          <a:xfrm>
            <a:off x="6553146" y="6356350"/>
            <a:ext cx="21335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4"/>
          <p:cNvSpPr txBox="1"/>
          <p:nvPr>
            <p:ph type="title"/>
          </p:nvPr>
        </p:nvSpPr>
        <p:spPr>
          <a:xfrm rot="5400000">
            <a:off x="4732275" y="2171709"/>
            <a:ext cx="5851525" cy="2057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64"/>
          <p:cNvSpPr txBox="1"/>
          <p:nvPr>
            <p:ph idx="1" type="body"/>
          </p:nvPr>
        </p:nvSpPr>
        <p:spPr>
          <a:xfrm rot="5400000">
            <a:off x="541309" y="190525"/>
            <a:ext cx="5851525" cy="6019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7" name="Google Shape;387;p64"/>
          <p:cNvSpPr txBox="1"/>
          <p:nvPr>
            <p:ph idx="10" type="dt"/>
          </p:nvPr>
        </p:nvSpPr>
        <p:spPr>
          <a:xfrm>
            <a:off x="457196" y="6356350"/>
            <a:ext cx="21335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64"/>
          <p:cNvSpPr txBox="1"/>
          <p:nvPr>
            <p:ph idx="11" type="ftr"/>
          </p:nvPr>
        </p:nvSpPr>
        <p:spPr>
          <a:xfrm>
            <a:off x="3124174" y="6356350"/>
            <a:ext cx="28955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64"/>
          <p:cNvSpPr txBox="1"/>
          <p:nvPr>
            <p:ph idx="12" type="sldNum"/>
          </p:nvPr>
        </p:nvSpPr>
        <p:spPr>
          <a:xfrm>
            <a:off x="6553146" y="6356350"/>
            <a:ext cx="21335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6.xml"/><Relationship Id="rId14" Type="http://schemas.openxmlformats.org/officeDocument/2006/relationships/theme" Target="../theme/theme6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7.xml"/><Relationship Id="rId12" Type="http://schemas.openxmlformats.org/officeDocument/2006/relationships/theme" Target="../theme/theme4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Relationship Id="rId3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5.xml"/><Relationship Id="rId9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48.xml"/><Relationship Id="rId12" Type="http://schemas.openxmlformats.org/officeDocument/2006/relationships/theme" Target="../theme/theme2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Relationship Id="rId9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59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2136807"/>
            <a:ext cx="10515600" cy="4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5"/>
          <p:cNvSpPr txBox="1"/>
          <p:nvPr>
            <p:ph idx="1" type="body"/>
          </p:nvPr>
        </p:nvSpPr>
        <p:spPr>
          <a:xfrm>
            <a:off x="838200" y="2136807"/>
            <a:ext cx="10515600" cy="4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" name="Google Shape;90;p15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15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15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-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0" name="Google Shape;170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1"/>
          <p:cNvSpPr txBox="1"/>
          <p:nvPr>
            <p:ph type="title"/>
          </p:nvPr>
        </p:nvSpPr>
        <p:spPr>
          <a:xfrm>
            <a:off x="521341" y="249136"/>
            <a:ext cx="9384145" cy="1036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2" name="Google Shape;242;p41"/>
          <p:cNvSpPr txBox="1"/>
          <p:nvPr>
            <p:ph idx="1" type="body"/>
          </p:nvPr>
        </p:nvSpPr>
        <p:spPr>
          <a:xfrm>
            <a:off x="521341" y="1451610"/>
            <a:ext cx="9384145" cy="4105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3" name="Google Shape;243;p41"/>
          <p:cNvSpPr txBox="1"/>
          <p:nvPr>
            <p:ph idx="10" type="dt"/>
          </p:nvPr>
        </p:nvSpPr>
        <p:spPr>
          <a:xfrm>
            <a:off x="521341" y="5766118"/>
            <a:ext cx="2432927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4" name="Google Shape;244;p41"/>
          <p:cNvSpPr txBox="1"/>
          <p:nvPr>
            <p:ph idx="11" type="ftr"/>
          </p:nvPr>
        </p:nvSpPr>
        <p:spPr>
          <a:xfrm>
            <a:off x="3562500" y="5766118"/>
            <a:ext cx="3301829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5" name="Google Shape;245;p41"/>
          <p:cNvSpPr txBox="1"/>
          <p:nvPr>
            <p:ph idx="12" type="sldNum"/>
          </p:nvPr>
        </p:nvSpPr>
        <p:spPr>
          <a:xfrm>
            <a:off x="7472560" y="5766118"/>
            <a:ext cx="2432927" cy="3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3"/>
          <p:cNvSpPr txBox="1"/>
          <p:nvPr>
            <p:ph type="title"/>
          </p:nvPr>
        </p:nvSpPr>
        <p:spPr>
          <a:xfrm>
            <a:off x="457196" y="274638"/>
            <a:ext cx="822953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7" name="Google Shape;317;p53"/>
          <p:cNvSpPr txBox="1"/>
          <p:nvPr>
            <p:ph idx="1" type="body"/>
          </p:nvPr>
        </p:nvSpPr>
        <p:spPr>
          <a:xfrm>
            <a:off x="457196" y="1600200"/>
            <a:ext cx="8229533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8" name="Google Shape;318;p53"/>
          <p:cNvSpPr txBox="1"/>
          <p:nvPr>
            <p:ph idx="10" type="dt"/>
          </p:nvPr>
        </p:nvSpPr>
        <p:spPr>
          <a:xfrm>
            <a:off x="457196" y="6356350"/>
            <a:ext cx="21335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9" name="Google Shape;319;p53"/>
          <p:cNvSpPr txBox="1"/>
          <p:nvPr>
            <p:ph idx="11" type="ftr"/>
          </p:nvPr>
        </p:nvSpPr>
        <p:spPr>
          <a:xfrm>
            <a:off x="3124174" y="6356350"/>
            <a:ext cx="28955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0" name="Google Shape;320;p53"/>
          <p:cNvSpPr txBox="1"/>
          <p:nvPr>
            <p:ph idx="12" type="sldNum"/>
          </p:nvPr>
        </p:nvSpPr>
        <p:spPr>
          <a:xfrm>
            <a:off x="6553146" y="6356350"/>
            <a:ext cx="21335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65"/>
          <p:cNvSpPr txBox="1"/>
          <p:nvPr/>
        </p:nvSpPr>
        <p:spPr>
          <a:xfrm>
            <a:off x="753525" y="2999025"/>
            <a:ext cx="10769100" cy="22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BEAE"/>
              </a:buClr>
              <a:buSzPts val="1400"/>
              <a:buFont typeface="Calibri"/>
              <a:buNone/>
            </a:pPr>
            <a:r>
              <a:rPr b="1" i="0" lang="en-ZA" sz="5400" u="none" cap="none" strike="noStrike">
                <a:solidFill>
                  <a:schemeClr val="dk2"/>
                </a:solidFill>
              </a:rPr>
              <a:t>LECTURE IT BACK</a:t>
            </a:r>
            <a:endParaRPr i="0" sz="1400" u="none" cap="none" strike="noStrike">
              <a:solidFill>
                <a:schemeClr val="dk2"/>
              </a:solidFill>
            </a:endParaRPr>
          </a:p>
        </p:txBody>
      </p:sp>
      <p:pic>
        <p:nvPicPr>
          <p:cNvPr id="397" name="Google Shape;397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84141" y="383197"/>
            <a:ext cx="2033076" cy="837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08440" y="535714"/>
            <a:ext cx="2613661" cy="574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59010" y="5669280"/>
            <a:ext cx="1883834" cy="76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0" name="Google Shape;400;p65"/>
          <p:cNvGrpSpPr/>
          <p:nvPr/>
        </p:nvGrpSpPr>
        <p:grpSpPr>
          <a:xfrm>
            <a:off x="763050" y="5899750"/>
            <a:ext cx="6501258" cy="410463"/>
            <a:chOff x="763050" y="5899750"/>
            <a:chExt cx="6501258" cy="410463"/>
          </a:xfrm>
        </p:grpSpPr>
        <p:sp>
          <p:nvSpPr>
            <p:cNvPr id="401" name="Google Shape;401;p65"/>
            <p:cNvSpPr/>
            <p:nvPr/>
          </p:nvSpPr>
          <p:spPr>
            <a:xfrm>
              <a:off x="763050" y="5899750"/>
              <a:ext cx="2955300" cy="404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65"/>
            <p:cNvSpPr txBox="1"/>
            <p:nvPr/>
          </p:nvSpPr>
          <p:spPr>
            <a:xfrm>
              <a:off x="902397" y="5959075"/>
              <a:ext cx="2676600" cy="29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50"/>
                <a:buFont typeface="Arial"/>
                <a:buNone/>
              </a:pPr>
              <a:r>
                <a:rPr b="1" lang="en-ZA" sz="1750">
                  <a:solidFill>
                    <a:schemeClr val="dk2"/>
                  </a:solidFill>
                </a:rPr>
                <a:t>Kenya - workshop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65"/>
            <p:cNvSpPr/>
            <p:nvPr/>
          </p:nvSpPr>
          <p:spPr>
            <a:xfrm>
              <a:off x="3928308" y="5906113"/>
              <a:ext cx="3336000" cy="404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65"/>
            <p:cNvSpPr txBox="1"/>
            <p:nvPr/>
          </p:nvSpPr>
          <p:spPr>
            <a:xfrm>
              <a:off x="3974350" y="5975050"/>
              <a:ext cx="3243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50"/>
                <a:buFont typeface="Arial"/>
                <a:buNone/>
              </a:pPr>
              <a:r>
                <a:rPr b="1" i="0" lang="en-ZA" sz="175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AI Research Foundations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05" name="Google Shape;405;p6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24851" y="505175"/>
            <a:ext cx="1168078" cy="59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411" name="Google Shape;411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66"/>
          <p:cNvSpPr/>
          <p:nvPr/>
        </p:nvSpPr>
        <p:spPr>
          <a:xfrm>
            <a:off x="484632" y="502920"/>
            <a:ext cx="11219700" cy="685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6575" lIns="137150" spcFirstLastPara="1" rIns="137150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Ten sessions</a:t>
            </a:r>
            <a:endParaRPr/>
          </a:p>
        </p:txBody>
      </p:sp>
      <p:pic>
        <p:nvPicPr>
          <p:cNvPr descr="ucl-extend-outline-col1-for-slide.png" id="413" name="Google Shape;413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2717" y="1371600"/>
            <a:ext cx="3858810" cy="5074919"/>
          </a:xfrm>
          <a:prstGeom prst="rect">
            <a:avLst/>
          </a:prstGeom>
          <a:noFill/>
          <a:ln cap="flat" cmpd="sng" w="12700">
            <a:solidFill>
              <a:srgbClr val="C9C4D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ucl-extend-outline-col2-for-slide.png" id="414" name="Google Shape;414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0167" y="1371600"/>
            <a:ext cx="3858809" cy="4519486"/>
          </a:xfrm>
          <a:prstGeom prst="rect">
            <a:avLst/>
          </a:prstGeom>
          <a:noFill/>
          <a:ln cap="flat" cmpd="sng" w="12700">
            <a:solidFill>
              <a:srgbClr val="C9C4D4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67"/>
          <p:cNvSpPr/>
          <p:nvPr/>
        </p:nvSpPr>
        <p:spPr>
          <a:xfrm>
            <a:off x="487680" y="628386"/>
            <a:ext cx="10972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How it works!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67"/>
          <p:cNvSpPr/>
          <p:nvPr/>
        </p:nvSpPr>
        <p:spPr>
          <a:xfrm>
            <a:off x="1733725" y="1518800"/>
            <a:ext cx="7967400" cy="32424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2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67"/>
          <p:cNvSpPr/>
          <p:nvPr/>
        </p:nvSpPr>
        <p:spPr>
          <a:xfrm>
            <a:off x="1977473" y="1710194"/>
            <a:ext cx="31701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6100"/>
              <a:buFont typeface="Georgia"/>
              <a:buNone/>
            </a:pPr>
            <a:r>
              <a:rPr b="1" i="0" lang="en-ZA" sz="47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Plan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67"/>
          <p:cNvSpPr/>
          <p:nvPr/>
        </p:nvSpPr>
        <p:spPr>
          <a:xfrm>
            <a:off x="2444375" y="2699075"/>
            <a:ext cx="6695700" cy="19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-"/>
            </a:pPr>
            <a:r>
              <a:rPr lang="en-ZA" sz="24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Eight</a:t>
            </a:r>
            <a:r>
              <a:rPr b="0" i="0" lang="en-ZA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groups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-"/>
            </a:pPr>
            <a:r>
              <a:rPr lang="en-ZA" sz="24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Each group will be assigned one AI activity or one RI Activity from the toolkit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-"/>
            </a:pPr>
            <a:r>
              <a:rPr lang="en-ZA" sz="24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Each group prepares how</a:t>
            </a:r>
            <a:r>
              <a:rPr b="0" i="0" lang="en-ZA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you'll run </a:t>
            </a:r>
            <a:r>
              <a:rPr lang="en-ZA" sz="24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them</a:t>
            </a:r>
            <a:r>
              <a:rPr b="0" i="0" lang="en-ZA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67"/>
          <p:cNvSpPr/>
          <p:nvPr/>
        </p:nvSpPr>
        <p:spPr>
          <a:xfrm>
            <a:off x="1479550" y="4959350"/>
            <a:ext cx="8556600" cy="1682700"/>
          </a:xfrm>
          <a:prstGeom prst="roundRect">
            <a:avLst>
              <a:gd fmla="val 8421" name="adj"/>
            </a:avLst>
          </a:prstGeom>
          <a:solidFill>
            <a:srgbClr val="FDF6DC"/>
          </a:solidFill>
          <a:ln cap="flat" cmpd="sng" w="30750">
            <a:solidFill>
              <a:srgbClr val="FDD6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7525" lIns="147525" spcFirstLastPara="1" rIns="147525" wrap="square" tIns="14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67"/>
          <p:cNvSpPr/>
          <p:nvPr/>
        </p:nvSpPr>
        <p:spPr>
          <a:xfrm>
            <a:off x="2054969" y="5147907"/>
            <a:ext cx="7303800" cy="12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61A54"/>
              </a:buClr>
              <a:buSzPts val="2017"/>
              <a:buFont typeface="Arial"/>
              <a:buNone/>
            </a:pPr>
            <a:r>
              <a:rPr b="1" i="0" lang="en-ZA" sz="2017" u="none" cap="none" strike="noStrike">
                <a:solidFill>
                  <a:srgbClr val="361A54"/>
                </a:solidFill>
                <a:latin typeface="Arial"/>
                <a:ea typeface="Arial"/>
                <a:cs typeface="Arial"/>
                <a:sym typeface="Arial"/>
              </a:rPr>
              <a:t>💡 </a:t>
            </a:r>
            <a:r>
              <a:rPr b="1" i="0" lang="en-ZA" sz="2417" u="none" cap="none" strike="noStrike">
                <a:solidFill>
                  <a:srgbClr val="361A54"/>
                </a:solidFill>
                <a:latin typeface="Calibri"/>
                <a:ea typeface="Calibri"/>
                <a:cs typeface="Calibri"/>
                <a:sym typeface="Calibri"/>
              </a:rPr>
              <a:t>Remarks:</a:t>
            </a:r>
            <a:r>
              <a:rPr b="1" lang="en-ZA" sz="2417">
                <a:solidFill>
                  <a:srgbClr val="361A5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2417">
              <a:solidFill>
                <a:srgbClr val="361A5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41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450"/>
              <a:buFont typeface="Calibri"/>
              <a:buChar char="-"/>
            </a:pPr>
            <a:r>
              <a:rPr lang="en-ZA" sz="245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If the activities require handouts, they are provided with the activities.</a:t>
            </a:r>
            <a:endParaRPr sz="245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41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450"/>
              <a:buFont typeface="Calibri"/>
              <a:buChar char="-"/>
            </a:pPr>
            <a:r>
              <a:rPr lang="en-ZA" sz="245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Need paper, markers, or anything else? </a:t>
            </a:r>
            <a:r>
              <a:rPr b="1" lang="en-ZA" sz="245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Just ask us</a:t>
            </a:r>
            <a:r>
              <a:rPr b="1" lang="en-ZA" sz="1250">
                <a:solidFill>
                  <a:srgbClr val="1F1F1F"/>
                </a:solidFill>
              </a:rPr>
              <a:t> </a:t>
            </a:r>
            <a:r>
              <a:rPr b="1" i="0" lang="en-ZA" sz="2017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🙌</a:t>
            </a:r>
            <a:endParaRPr b="0" i="0" sz="201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68"/>
          <p:cNvSpPr/>
          <p:nvPr/>
        </p:nvSpPr>
        <p:spPr>
          <a:xfrm>
            <a:off x="487680" y="628386"/>
            <a:ext cx="10972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lang="en-ZA" sz="4000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Agenda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68"/>
          <p:cNvSpPr/>
          <p:nvPr/>
        </p:nvSpPr>
        <p:spPr>
          <a:xfrm>
            <a:off x="1725925" y="2225225"/>
            <a:ext cx="8838000" cy="36651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68"/>
          <p:cNvSpPr/>
          <p:nvPr/>
        </p:nvSpPr>
        <p:spPr>
          <a:xfrm>
            <a:off x="2131850" y="2505100"/>
            <a:ext cx="84321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lang="en-ZA" sz="4000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Thursday 15 Oct (16:00 - 17 : 00)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68"/>
          <p:cNvSpPr/>
          <p:nvPr/>
        </p:nvSpPr>
        <p:spPr>
          <a:xfrm>
            <a:off x="2190450" y="4064275"/>
            <a:ext cx="84321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lang="en-ZA" sz="4000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Friday 16 Oct (16:00</a:t>
            </a:r>
            <a:r>
              <a:rPr b="1" lang="en-ZA" sz="4000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 - 17 : 00)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69"/>
          <p:cNvSpPr/>
          <p:nvPr/>
        </p:nvSpPr>
        <p:spPr>
          <a:xfrm>
            <a:off x="609600" y="536448"/>
            <a:ext cx="10972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eorgia"/>
              <a:buNone/>
            </a:pPr>
            <a:r>
              <a:rPr b="1" i="0" lang="en-ZA" sz="36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Structure of an activity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4" name="Google Shape;444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750" y="2721675"/>
            <a:ext cx="6196225" cy="3607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0975" y="1194938"/>
            <a:ext cx="5562600" cy="347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70"/>
          <p:cNvSpPr/>
          <p:nvPr/>
        </p:nvSpPr>
        <p:spPr>
          <a:xfrm>
            <a:off x="609600" y="536448"/>
            <a:ext cx="10972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eorgia"/>
              <a:buNone/>
            </a:pPr>
            <a:r>
              <a:rPr b="1" i="0" lang="en-ZA" sz="36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Structure of an activity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3" name="Google Shape;453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649" y="1393550"/>
            <a:ext cx="6200750" cy="315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85279" y="2852925"/>
            <a:ext cx="5562600" cy="28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71"/>
          <p:cNvSpPr/>
          <p:nvPr/>
        </p:nvSpPr>
        <p:spPr>
          <a:xfrm>
            <a:off x="487680" y="628386"/>
            <a:ext cx="10972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In your delivery slot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71"/>
          <p:cNvSpPr/>
          <p:nvPr/>
        </p:nvSpPr>
        <p:spPr>
          <a:xfrm>
            <a:off x="1860633" y="2262644"/>
            <a:ext cx="3657600" cy="35355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2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71"/>
          <p:cNvSpPr/>
          <p:nvPr/>
        </p:nvSpPr>
        <p:spPr>
          <a:xfrm>
            <a:off x="2104473" y="2567444"/>
            <a:ext cx="31701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61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Run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71"/>
          <p:cNvSpPr/>
          <p:nvPr/>
        </p:nvSpPr>
        <p:spPr>
          <a:xfrm>
            <a:off x="2165433" y="3725684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000"/>
              <a:buFont typeface="Georgia"/>
              <a:buNone/>
            </a:pPr>
            <a:r>
              <a:rPr b="1" i="0" lang="en-ZA" sz="2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≈ Respect the timing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71"/>
          <p:cNvSpPr/>
          <p:nvPr/>
        </p:nvSpPr>
        <p:spPr>
          <a:xfrm>
            <a:off x="2165433" y="4640084"/>
            <a:ext cx="30480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rPr b="0" i="0" lang="en-ZA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Deliver it as you would to your class: open the idea, run the task, manage the time, debrief the answers.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71"/>
          <p:cNvSpPr/>
          <p:nvPr/>
        </p:nvSpPr>
        <p:spPr>
          <a:xfrm>
            <a:off x="6289611" y="2262644"/>
            <a:ext cx="3657600" cy="35355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2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71"/>
          <p:cNvSpPr/>
          <p:nvPr/>
        </p:nvSpPr>
        <p:spPr>
          <a:xfrm>
            <a:off x="6533451" y="2567444"/>
            <a:ext cx="31701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61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Feedback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71"/>
          <p:cNvSpPr/>
          <p:nvPr/>
        </p:nvSpPr>
        <p:spPr>
          <a:xfrm>
            <a:off x="6594411" y="3725684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000"/>
              <a:buFont typeface="Georgia"/>
              <a:buNone/>
            </a:pPr>
            <a:r>
              <a:rPr b="1" i="0" lang="en-ZA" sz="2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≈ 5 minutes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71"/>
          <p:cNvSpPr/>
          <p:nvPr/>
        </p:nvSpPr>
        <p:spPr>
          <a:xfrm>
            <a:off x="6594411" y="4640084"/>
            <a:ext cx="30480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rPr b="0" i="0" lang="en-ZA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Peers and facilitators respond: what landed, what to tighten (timing, clarity, participation, debrief).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73"/>
          <p:cNvSpPr/>
          <p:nvPr/>
        </p:nvSpPr>
        <p:spPr>
          <a:xfrm>
            <a:off x="815930" y="1824136"/>
            <a:ext cx="10972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lang="en-ZA" sz="4000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Deadline : </a:t>
            </a:r>
            <a:r>
              <a:rPr b="1" lang="en-ZA" sz="40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Thursday - 10 a.m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73"/>
          <p:cNvSpPr/>
          <p:nvPr/>
        </p:nvSpPr>
        <p:spPr>
          <a:xfrm>
            <a:off x="710405" y="323586"/>
            <a:ext cx="10972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lang="en-ZA" sz="4000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Materials?</a:t>
            </a:r>
            <a:r>
              <a:rPr b="1" lang="en-ZA" sz="4000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73"/>
          <p:cNvSpPr/>
          <p:nvPr/>
        </p:nvSpPr>
        <p:spPr>
          <a:xfrm>
            <a:off x="815930" y="3453661"/>
            <a:ext cx="10972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lang="en-ZA" sz="4000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Where? </a:t>
            </a:r>
            <a:r>
              <a:rPr b="1" lang="en-ZA" sz="4000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-ZA" sz="40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#</a:t>
            </a:r>
            <a:r>
              <a:rPr b="1" lang="en-ZA" sz="40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lecture-it-back-kenya-cohort-1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74"/>
          <p:cNvSpPr txBox="1"/>
          <p:nvPr/>
        </p:nvSpPr>
        <p:spPr>
          <a:xfrm>
            <a:off x="615758" y="261257"/>
            <a:ext cx="109605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000" u="none" cap="none" strike="noStrike">
                <a:solidFill>
                  <a:srgbClr val="3B225C"/>
                </a:solidFill>
                <a:latin typeface="Arial"/>
                <a:ea typeface="Arial"/>
                <a:cs typeface="Arial"/>
                <a:sym typeface="Arial"/>
              </a:rPr>
              <a:t>AFRICA AI UPSKILLING PROGRAMME - AI RESEARCH FOUNDATIONS WORKSHOP</a:t>
            </a:r>
            <a:endParaRPr/>
          </a:p>
        </p:txBody>
      </p:sp>
      <p:sp>
        <p:nvSpPr>
          <p:cNvPr id="505" name="Google Shape;505;p74"/>
          <p:cNvSpPr txBox="1"/>
          <p:nvPr/>
        </p:nvSpPr>
        <p:spPr>
          <a:xfrm>
            <a:off x="615758" y="431074"/>
            <a:ext cx="109605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2600" u="none" cap="none" strike="noStrike">
                <a:solidFill>
                  <a:srgbClr val="3B225C"/>
                </a:solidFill>
                <a:latin typeface="Arial"/>
                <a:ea typeface="Arial"/>
                <a:cs typeface="Arial"/>
                <a:sym typeface="Arial"/>
              </a:rPr>
              <a:t>Lecture it Back</a:t>
            </a:r>
            <a:r>
              <a:rPr b="0" i="0" lang="en-ZA" sz="2600" u="none" cap="none" strike="noStrike">
                <a:solidFill>
                  <a:srgbClr val="3B225C"/>
                </a:solidFill>
                <a:latin typeface="Arial"/>
                <a:ea typeface="Arial"/>
                <a:cs typeface="Arial"/>
                <a:sym typeface="Arial"/>
              </a:rPr>
              <a:t>  ·  Group Assignments</a:t>
            </a:r>
            <a:endParaRPr/>
          </a:p>
        </p:txBody>
      </p:sp>
      <p:sp>
        <p:nvSpPr>
          <p:cNvPr id="506" name="Google Shape;506;p74"/>
          <p:cNvSpPr/>
          <p:nvPr/>
        </p:nvSpPr>
        <p:spPr>
          <a:xfrm>
            <a:off x="615758" y="979714"/>
            <a:ext cx="10960500" cy="29400"/>
          </a:xfrm>
          <a:prstGeom prst="rect">
            <a:avLst/>
          </a:prstGeom>
          <a:solidFill>
            <a:srgbClr val="FDD6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74"/>
          <p:cNvSpPr/>
          <p:nvPr/>
        </p:nvSpPr>
        <p:spPr>
          <a:xfrm>
            <a:off x="615758" y="1257300"/>
            <a:ext cx="5357100" cy="1195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7E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74"/>
          <p:cNvSpPr/>
          <p:nvPr/>
        </p:nvSpPr>
        <p:spPr>
          <a:xfrm>
            <a:off x="615758" y="1257300"/>
            <a:ext cx="5357100" cy="267900"/>
          </a:xfrm>
          <a:prstGeom prst="roundRect">
            <a:avLst>
              <a:gd fmla="val 30000" name="adj"/>
            </a:avLst>
          </a:prstGeom>
          <a:solidFill>
            <a:srgbClr val="3B22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74"/>
          <p:cNvSpPr/>
          <p:nvPr/>
        </p:nvSpPr>
        <p:spPr>
          <a:xfrm>
            <a:off x="615758" y="1394460"/>
            <a:ext cx="5357100" cy="130500"/>
          </a:xfrm>
          <a:prstGeom prst="rect">
            <a:avLst/>
          </a:prstGeom>
          <a:solidFill>
            <a:srgbClr val="3B22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74"/>
          <p:cNvSpPr txBox="1"/>
          <p:nvPr/>
        </p:nvSpPr>
        <p:spPr>
          <a:xfrm>
            <a:off x="800485" y="1257300"/>
            <a:ext cx="20526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300" u="none" cap="none" strike="noStrike">
                <a:solidFill>
                  <a:srgbClr val="FDD633"/>
                </a:solidFill>
                <a:latin typeface="Arial"/>
                <a:ea typeface="Arial"/>
                <a:cs typeface="Arial"/>
                <a:sym typeface="Arial"/>
              </a:rPr>
              <a:t>Group 1</a:t>
            </a:r>
            <a:r>
              <a:rPr b="1" i="0" lang="en-ZA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GROUP OF 4</a:t>
            </a:r>
            <a:endParaRPr/>
          </a:p>
        </p:txBody>
      </p:sp>
      <p:sp>
        <p:nvSpPr>
          <p:cNvPr id="511" name="Google Shape;511;p74"/>
          <p:cNvSpPr txBox="1"/>
          <p:nvPr/>
        </p:nvSpPr>
        <p:spPr>
          <a:xfrm>
            <a:off x="2750384" y="1257300"/>
            <a:ext cx="30378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Thu 15 Oct  ·  16:00 to 16:20  ·  Room A</a:t>
            </a:r>
            <a:endParaRPr sz="1700"/>
          </a:p>
        </p:txBody>
      </p:sp>
      <p:sp>
        <p:nvSpPr>
          <p:cNvPr id="512" name="Google Shape;512;p74"/>
          <p:cNvSpPr txBox="1"/>
          <p:nvPr/>
        </p:nvSpPr>
        <p:spPr>
          <a:xfrm>
            <a:off x="800485" y="1557746"/>
            <a:ext cx="3961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050" u="none" cap="none" strike="noStrike">
                <a:solidFill>
                  <a:srgbClr val="1B4F9C"/>
                </a:solidFill>
                <a:latin typeface="Arial"/>
                <a:ea typeface="Arial"/>
                <a:cs typeface="Arial"/>
                <a:sym typeface="Arial"/>
              </a:rPr>
              <a:t>1.4  </a:t>
            </a:r>
            <a:r>
              <a:rPr b="0" i="0" lang="en-ZA" sz="1050" u="none" cap="none" strike="noStrike">
                <a:solidFill>
                  <a:srgbClr val="2A2438"/>
                </a:solidFill>
                <a:latin typeface="Arial"/>
                <a:ea typeface="Arial"/>
                <a:cs typeface="Arial"/>
                <a:sym typeface="Arial"/>
              </a:rPr>
              <a:t>Loss matrix on a small dataset</a:t>
            </a:r>
            <a:endParaRPr/>
          </a:p>
        </p:txBody>
      </p:sp>
      <p:sp>
        <p:nvSpPr>
          <p:cNvPr id="513" name="Google Shape;513;p74"/>
          <p:cNvSpPr txBox="1"/>
          <p:nvPr/>
        </p:nvSpPr>
        <p:spPr>
          <a:xfrm>
            <a:off x="4823434" y="1557746"/>
            <a:ext cx="964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800" u="none" cap="none" strike="noStrike">
                <a:solidFill>
                  <a:srgbClr val="1B4F9C"/>
                </a:solidFill>
                <a:latin typeface="Arial"/>
                <a:ea typeface="Arial"/>
                <a:cs typeface="Arial"/>
                <a:sym typeface="Arial"/>
              </a:rPr>
              <a:t>AI · 20 MIN</a:t>
            </a:r>
            <a:endParaRPr/>
          </a:p>
        </p:txBody>
      </p:sp>
      <p:sp>
        <p:nvSpPr>
          <p:cNvPr id="514" name="Google Shape;514;p74"/>
          <p:cNvSpPr txBox="1"/>
          <p:nvPr/>
        </p:nvSpPr>
        <p:spPr>
          <a:xfrm>
            <a:off x="800485" y="1760220"/>
            <a:ext cx="49875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250" u="none" cap="none" strike="noStrike">
                <a:solidFill>
                  <a:srgbClr val="3B225C"/>
                </a:solidFill>
                <a:latin typeface="Arial"/>
                <a:ea typeface="Arial"/>
                <a:cs typeface="Arial"/>
                <a:sym typeface="Arial"/>
              </a:rPr>
              <a:t>Dr. Leah Mutanu</a:t>
            </a:r>
            <a:endParaRPr/>
          </a:p>
        </p:txBody>
      </p:sp>
      <p:sp>
        <p:nvSpPr>
          <p:cNvPr id="515" name="Google Shape;515;p74"/>
          <p:cNvSpPr/>
          <p:nvPr/>
        </p:nvSpPr>
        <p:spPr>
          <a:xfrm>
            <a:off x="800485" y="1926771"/>
            <a:ext cx="4987500" cy="8700"/>
          </a:xfrm>
          <a:prstGeom prst="rect">
            <a:avLst/>
          </a:prstGeom>
          <a:solidFill>
            <a:srgbClr val="EFE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74"/>
          <p:cNvSpPr txBox="1"/>
          <p:nvPr/>
        </p:nvSpPr>
        <p:spPr>
          <a:xfrm>
            <a:off x="800485" y="1926771"/>
            <a:ext cx="49875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250" u="none" cap="none" strike="noStrike">
                <a:solidFill>
                  <a:srgbClr val="3B225C"/>
                </a:solidFill>
                <a:latin typeface="Arial"/>
                <a:ea typeface="Arial"/>
                <a:cs typeface="Arial"/>
                <a:sym typeface="Arial"/>
              </a:rPr>
              <a:t>Dr. Henry Muchiri</a:t>
            </a:r>
            <a:endParaRPr/>
          </a:p>
        </p:txBody>
      </p:sp>
      <p:sp>
        <p:nvSpPr>
          <p:cNvPr id="517" name="Google Shape;517;p74"/>
          <p:cNvSpPr/>
          <p:nvPr/>
        </p:nvSpPr>
        <p:spPr>
          <a:xfrm>
            <a:off x="800485" y="2093323"/>
            <a:ext cx="4987500" cy="8700"/>
          </a:xfrm>
          <a:prstGeom prst="rect">
            <a:avLst/>
          </a:prstGeom>
          <a:solidFill>
            <a:srgbClr val="EFE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74"/>
          <p:cNvSpPr txBox="1"/>
          <p:nvPr/>
        </p:nvSpPr>
        <p:spPr>
          <a:xfrm>
            <a:off x="800485" y="2093323"/>
            <a:ext cx="49875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250" u="none" cap="none" strike="noStrike">
                <a:solidFill>
                  <a:srgbClr val="3B225C"/>
                </a:solidFill>
                <a:latin typeface="Arial"/>
                <a:ea typeface="Arial"/>
                <a:cs typeface="Arial"/>
                <a:sym typeface="Arial"/>
              </a:rPr>
              <a:t>Anthony Karugu</a:t>
            </a:r>
            <a:endParaRPr/>
          </a:p>
        </p:txBody>
      </p:sp>
      <p:sp>
        <p:nvSpPr>
          <p:cNvPr id="519" name="Google Shape;519;p74"/>
          <p:cNvSpPr/>
          <p:nvPr/>
        </p:nvSpPr>
        <p:spPr>
          <a:xfrm>
            <a:off x="800485" y="2259874"/>
            <a:ext cx="4987500" cy="8700"/>
          </a:xfrm>
          <a:prstGeom prst="rect">
            <a:avLst/>
          </a:prstGeom>
          <a:solidFill>
            <a:srgbClr val="EFE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74"/>
          <p:cNvSpPr txBox="1"/>
          <p:nvPr/>
        </p:nvSpPr>
        <p:spPr>
          <a:xfrm>
            <a:off x="800485" y="2259874"/>
            <a:ext cx="49875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250" u="none" cap="none" strike="noStrike">
                <a:solidFill>
                  <a:srgbClr val="3B225C"/>
                </a:solidFill>
                <a:latin typeface="Arial"/>
                <a:ea typeface="Arial"/>
                <a:cs typeface="Arial"/>
                <a:sym typeface="Arial"/>
              </a:rPr>
              <a:t>Bonsa Guyo</a:t>
            </a:r>
            <a:endParaRPr/>
          </a:p>
        </p:txBody>
      </p:sp>
      <p:sp>
        <p:nvSpPr>
          <p:cNvPr id="521" name="Google Shape;521;p74"/>
          <p:cNvSpPr/>
          <p:nvPr/>
        </p:nvSpPr>
        <p:spPr>
          <a:xfrm>
            <a:off x="615758" y="2658543"/>
            <a:ext cx="5357100" cy="1195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7E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74"/>
          <p:cNvSpPr/>
          <p:nvPr/>
        </p:nvSpPr>
        <p:spPr>
          <a:xfrm>
            <a:off x="615758" y="2658543"/>
            <a:ext cx="5357100" cy="267900"/>
          </a:xfrm>
          <a:prstGeom prst="roundRect">
            <a:avLst>
              <a:gd fmla="val 30000" name="adj"/>
            </a:avLst>
          </a:prstGeom>
          <a:solidFill>
            <a:srgbClr val="3B22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74"/>
          <p:cNvSpPr/>
          <p:nvPr/>
        </p:nvSpPr>
        <p:spPr>
          <a:xfrm>
            <a:off x="615758" y="2795703"/>
            <a:ext cx="5357100" cy="130500"/>
          </a:xfrm>
          <a:prstGeom prst="rect">
            <a:avLst/>
          </a:prstGeom>
          <a:solidFill>
            <a:srgbClr val="3B22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74"/>
          <p:cNvSpPr txBox="1"/>
          <p:nvPr/>
        </p:nvSpPr>
        <p:spPr>
          <a:xfrm>
            <a:off x="800485" y="2658543"/>
            <a:ext cx="20526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300" u="none" cap="none" strike="noStrike">
                <a:solidFill>
                  <a:srgbClr val="FDD633"/>
                </a:solidFill>
                <a:latin typeface="Arial"/>
                <a:ea typeface="Arial"/>
                <a:cs typeface="Arial"/>
                <a:sym typeface="Arial"/>
              </a:rPr>
              <a:t>Group 2</a:t>
            </a:r>
            <a:r>
              <a:rPr b="1" i="0" lang="en-ZA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GROUP OF 4</a:t>
            </a:r>
            <a:endParaRPr/>
          </a:p>
        </p:txBody>
      </p:sp>
      <p:sp>
        <p:nvSpPr>
          <p:cNvPr id="525" name="Google Shape;525;p74"/>
          <p:cNvSpPr txBox="1"/>
          <p:nvPr/>
        </p:nvSpPr>
        <p:spPr>
          <a:xfrm>
            <a:off x="2750384" y="2658543"/>
            <a:ext cx="30378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Thu 15 Oct  ·  16:00 to 16:20  ·  Room B</a:t>
            </a:r>
            <a:endParaRPr sz="1700"/>
          </a:p>
        </p:txBody>
      </p:sp>
      <p:sp>
        <p:nvSpPr>
          <p:cNvPr id="526" name="Google Shape;526;p74"/>
          <p:cNvSpPr txBox="1"/>
          <p:nvPr/>
        </p:nvSpPr>
        <p:spPr>
          <a:xfrm>
            <a:off x="800485" y="2958988"/>
            <a:ext cx="3961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050" u="none" cap="none" strike="noStrike">
                <a:solidFill>
                  <a:srgbClr val="1B4F9C"/>
                </a:solidFill>
                <a:latin typeface="Arial"/>
                <a:ea typeface="Arial"/>
                <a:cs typeface="Arial"/>
                <a:sym typeface="Arial"/>
              </a:rPr>
              <a:t>2.4  </a:t>
            </a:r>
            <a:r>
              <a:rPr b="0" i="0" lang="en-ZA" sz="1050" u="none" cap="none" strike="noStrike">
                <a:solidFill>
                  <a:srgbClr val="2A2438"/>
                </a:solidFill>
                <a:latin typeface="Arial"/>
                <a:ea typeface="Arial"/>
                <a:cs typeface="Arial"/>
                <a:sym typeface="Arial"/>
              </a:rPr>
              <a:t>Why tokenization matters</a:t>
            </a:r>
            <a:endParaRPr/>
          </a:p>
        </p:txBody>
      </p:sp>
      <p:sp>
        <p:nvSpPr>
          <p:cNvPr id="527" name="Google Shape;527;p74"/>
          <p:cNvSpPr txBox="1"/>
          <p:nvPr/>
        </p:nvSpPr>
        <p:spPr>
          <a:xfrm>
            <a:off x="4823434" y="2958988"/>
            <a:ext cx="964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800" u="none" cap="none" strike="noStrike">
                <a:solidFill>
                  <a:srgbClr val="1B4F9C"/>
                </a:solidFill>
                <a:latin typeface="Arial"/>
                <a:ea typeface="Arial"/>
                <a:cs typeface="Arial"/>
                <a:sym typeface="Arial"/>
              </a:rPr>
              <a:t>AI · 20 MIN</a:t>
            </a:r>
            <a:endParaRPr/>
          </a:p>
        </p:txBody>
      </p:sp>
      <p:sp>
        <p:nvSpPr>
          <p:cNvPr id="528" name="Google Shape;528;p74"/>
          <p:cNvSpPr txBox="1"/>
          <p:nvPr/>
        </p:nvSpPr>
        <p:spPr>
          <a:xfrm>
            <a:off x="800485" y="3161463"/>
            <a:ext cx="49875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250" u="none" cap="none" strike="noStrike">
                <a:solidFill>
                  <a:srgbClr val="3B225C"/>
                </a:solidFill>
                <a:latin typeface="Arial"/>
                <a:ea typeface="Arial"/>
                <a:cs typeface="Arial"/>
                <a:sym typeface="Arial"/>
              </a:rPr>
              <a:t>Prof. Jimmy Macharia</a:t>
            </a:r>
            <a:endParaRPr/>
          </a:p>
        </p:txBody>
      </p:sp>
      <p:sp>
        <p:nvSpPr>
          <p:cNvPr id="529" name="Google Shape;529;p74"/>
          <p:cNvSpPr/>
          <p:nvPr/>
        </p:nvSpPr>
        <p:spPr>
          <a:xfrm>
            <a:off x="800485" y="3328014"/>
            <a:ext cx="4987500" cy="8700"/>
          </a:xfrm>
          <a:prstGeom prst="rect">
            <a:avLst/>
          </a:prstGeom>
          <a:solidFill>
            <a:srgbClr val="EFE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74"/>
          <p:cNvSpPr txBox="1"/>
          <p:nvPr/>
        </p:nvSpPr>
        <p:spPr>
          <a:xfrm>
            <a:off x="800485" y="3328014"/>
            <a:ext cx="49875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250" u="none" cap="none" strike="noStrike">
                <a:solidFill>
                  <a:srgbClr val="3B225C"/>
                </a:solidFill>
                <a:latin typeface="Arial"/>
                <a:ea typeface="Arial"/>
                <a:cs typeface="Arial"/>
                <a:sym typeface="Arial"/>
              </a:rPr>
              <a:t>Dr. Mary Njeri Ngaruiya</a:t>
            </a:r>
            <a:endParaRPr/>
          </a:p>
        </p:txBody>
      </p:sp>
      <p:sp>
        <p:nvSpPr>
          <p:cNvPr id="531" name="Google Shape;531;p74"/>
          <p:cNvSpPr/>
          <p:nvPr/>
        </p:nvSpPr>
        <p:spPr>
          <a:xfrm>
            <a:off x="800485" y="3494566"/>
            <a:ext cx="4987500" cy="8700"/>
          </a:xfrm>
          <a:prstGeom prst="rect">
            <a:avLst/>
          </a:prstGeom>
          <a:solidFill>
            <a:srgbClr val="EFE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74"/>
          <p:cNvSpPr txBox="1"/>
          <p:nvPr/>
        </p:nvSpPr>
        <p:spPr>
          <a:xfrm>
            <a:off x="800485" y="3494566"/>
            <a:ext cx="49875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250" u="none" cap="none" strike="noStrike">
                <a:solidFill>
                  <a:srgbClr val="3B225C"/>
                </a:solidFill>
                <a:latin typeface="Arial"/>
                <a:ea typeface="Arial"/>
                <a:cs typeface="Arial"/>
                <a:sym typeface="Arial"/>
              </a:rPr>
              <a:t>Ernest Andugo</a:t>
            </a:r>
            <a:endParaRPr/>
          </a:p>
        </p:txBody>
      </p:sp>
      <p:sp>
        <p:nvSpPr>
          <p:cNvPr id="533" name="Google Shape;533;p74"/>
          <p:cNvSpPr/>
          <p:nvPr/>
        </p:nvSpPr>
        <p:spPr>
          <a:xfrm>
            <a:off x="800485" y="3661117"/>
            <a:ext cx="4987500" cy="8700"/>
          </a:xfrm>
          <a:prstGeom prst="rect">
            <a:avLst/>
          </a:prstGeom>
          <a:solidFill>
            <a:srgbClr val="EFE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74"/>
          <p:cNvSpPr txBox="1"/>
          <p:nvPr/>
        </p:nvSpPr>
        <p:spPr>
          <a:xfrm>
            <a:off x="800485" y="3661117"/>
            <a:ext cx="49875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250" u="none" cap="none" strike="noStrike">
                <a:solidFill>
                  <a:srgbClr val="3B225C"/>
                </a:solidFill>
                <a:latin typeface="Arial"/>
                <a:ea typeface="Arial"/>
                <a:cs typeface="Arial"/>
                <a:sym typeface="Arial"/>
              </a:rPr>
              <a:t>Serena Cheres</a:t>
            </a:r>
            <a:endParaRPr/>
          </a:p>
        </p:txBody>
      </p:sp>
      <p:sp>
        <p:nvSpPr>
          <p:cNvPr id="535" name="Google Shape;535;p74"/>
          <p:cNvSpPr/>
          <p:nvPr/>
        </p:nvSpPr>
        <p:spPr>
          <a:xfrm>
            <a:off x="615758" y="4059785"/>
            <a:ext cx="5357100" cy="1195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7E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74"/>
          <p:cNvSpPr/>
          <p:nvPr/>
        </p:nvSpPr>
        <p:spPr>
          <a:xfrm>
            <a:off x="615758" y="4059785"/>
            <a:ext cx="5357100" cy="267900"/>
          </a:xfrm>
          <a:prstGeom prst="roundRect">
            <a:avLst>
              <a:gd fmla="val 30000" name="adj"/>
            </a:avLst>
          </a:prstGeom>
          <a:solidFill>
            <a:srgbClr val="3B22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74"/>
          <p:cNvSpPr/>
          <p:nvPr/>
        </p:nvSpPr>
        <p:spPr>
          <a:xfrm>
            <a:off x="615758" y="4196945"/>
            <a:ext cx="5357100" cy="130500"/>
          </a:xfrm>
          <a:prstGeom prst="rect">
            <a:avLst/>
          </a:prstGeom>
          <a:solidFill>
            <a:srgbClr val="3B22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74"/>
          <p:cNvSpPr txBox="1"/>
          <p:nvPr/>
        </p:nvSpPr>
        <p:spPr>
          <a:xfrm>
            <a:off x="800485" y="4059785"/>
            <a:ext cx="20526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300" u="none" cap="none" strike="noStrike">
                <a:solidFill>
                  <a:srgbClr val="FDD633"/>
                </a:solidFill>
                <a:latin typeface="Arial"/>
                <a:ea typeface="Arial"/>
                <a:cs typeface="Arial"/>
                <a:sym typeface="Arial"/>
              </a:rPr>
              <a:t>Group 3</a:t>
            </a:r>
            <a:r>
              <a:rPr b="1" i="0" lang="en-ZA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TRIO</a:t>
            </a:r>
            <a:endParaRPr/>
          </a:p>
        </p:txBody>
      </p:sp>
      <p:sp>
        <p:nvSpPr>
          <p:cNvPr id="539" name="Google Shape;539;p74"/>
          <p:cNvSpPr txBox="1"/>
          <p:nvPr/>
        </p:nvSpPr>
        <p:spPr>
          <a:xfrm>
            <a:off x="2750384" y="4059785"/>
            <a:ext cx="30378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ZA" sz="1100">
                <a:solidFill>
                  <a:srgbClr val="FFFFFF"/>
                </a:solidFill>
              </a:rPr>
              <a:t>Fri 16 Oct  ·  16:00 to 16:20  ·  Room A</a:t>
            </a:r>
            <a:endParaRPr/>
          </a:p>
        </p:txBody>
      </p:sp>
      <p:sp>
        <p:nvSpPr>
          <p:cNvPr id="540" name="Google Shape;540;p74"/>
          <p:cNvSpPr txBox="1"/>
          <p:nvPr/>
        </p:nvSpPr>
        <p:spPr>
          <a:xfrm>
            <a:off x="800485" y="4360231"/>
            <a:ext cx="3961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050" u="none" cap="none" strike="noStrike">
                <a:solidFill>
                  <a:srgbClr val="1B4F9C"/>
                </a:solidFill>
                <a:latin typeface="Arial"/>
                <a:ea typeface="Arial"/>
                <a:cs typeface="Arial"/>
                <a:sym typeface="Arial"/>
              </a:rPr>
              <a:t>3.4  </a:t>
            </a:r>
            <a:r>
              <a:rPr b="0" i="0" lang="en-ZA" sz="1050" u="none" cap="none" strike="noStrike">
                <a:solidFill>
                  <a:srgbClr val="2A2438"/>
                </a:solidFill>
                <a:latin typeface="Arial"/>
                <a:ea typeface="Arial"/>
                <a:cs typeface="Arial"/>
                <a:sym typeface="Arial"/>
              </a:rPr>
              <a:t>Where did the model go wrong?</a:t>
            </a:r>
            <a:endParaRPr/>
          </a:p>
        </p:txBody>
      </p:sp>
      <p:sp>
        <p:nvSpPr>
          <p:cNvPr id="541" name="Google Shape;541;p74"/>
          <p:cNvSpPr txBox="1"/>
          <p:nvPr/>
        </p:nvSpPr>
        <p:spPr>
          <a:xfrm>
            <a:off x="4823434" y="4360231"/>
            <a:ext cx="964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800" u="none" cap="none" strike="noStrike">
                <a:solidFill>
                  <a:srgbClr val="1B4F9C"/>
                </a:solidFill>
                <a:latin typeface="Arial"/>
                <a:ea typeface="Arial"/>
                <a:cs typeface="Arial"/>
                <a:sym typeface="Arial"/>
              </a:rPr>
              <a:t>AI · 20 MIN</a:t>
            </a:r>
            <a:endParaRPr/>
          </a:p>
        </p:txBody>
      </p:sp>
      <p:sp>
        <p:nvSpPr>
          <p:cNvPr id="542" name="Google Shape;542;p74"/>
          <p:cNvSpPr txBox="1"/>
          <p:nvPr/>
        </p:nvSpPr>
        <p:spPr>
          <a:xfrm>
            <a:off x="800485" y="4645981"/>
            <a:ext cx="49875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250" u="none" cap="none" strike="noStrike">
                <a:solidFill>
                  <a:srgbClr val="3B225C"/>
                </a:solidFill>
                <a:latin typeface="Arial"/>
                <a:ea typeface="Arial"/>
                <a:cs typeface="Arial"/>
                <a:sym typeface="Arial"/>
              </a:rPr>
              <a:t>Prof. Calvin Omolo</a:t>
            </a:r>
            <a:endParaRPr/>
          </a:p>
        </p:txBody>
      </p:sp>
      <p:sp>
        <p:nvSpPr>
          <p:cNvPr id="543" name="Google Shape;543;p74"/>
          <p:cNvSpPr/>
          <p:nvPr/>
        </p:nvSpPr>
        <p:spPr>
          <a:xfrm>
            <a:off x="800485" y="4812532"/>
            <a:ext cx="4987500" cy="8700"/>
          </a:xfrm>
          <a:prstGeom prst="rect">
            <a:avLst/>
          </a:prstGeom>
          <a:solidFill>
            <a:srgbClr val="EFE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74"/>
          <p:cNvSpPr txBox="1"/>
          <p:nvPr/>
        </p:nvSpPr>
        <p:spPr>
          <a:xfrm>
            <a:off x="800485" y="4812532"/>
            <a:ext cx="49875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250" u="none" cap="none" strike="noStrike">
                <a:solidFill>
                  <a:srgbClr val="3B225C"/>
                </a:solidFill>
                <a:latin typeface="Arial"/>
                <a:ea typeface="Arial"/>
                <a:cs typeface="Arial"/>
                <a:sym typeface="Arial"/>
              </a:rPr>
              <a:t>Dr. Vincent Mbandu</a:t>
            </a:r>
            <a:endParaRPr/>
          </a:p>
        </p:txBody>
      </p:sp>
      <p:sp>
        <p:nvSpPr>
          <p:cNvPr id="545" name="Google Shape;545;p74"/>
          <p:cNvSpPr/>
          <p:nvPr/>
        </p:nvSpPr>
        <p:spPr>
          <a:xfrm>
            <a:off x="800485" y="4979084"/>
            <a:ext cx="4987500" cy="8700"/>
          </a:xfrm>
          <a:prstGeom prst="rect">
            <a:avLst/>
          </a:prstGeom>
          <a:solidFill>
            <a:srgbClr val="EFE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74"/>
          <p:cNvSpPr txBox="1"/>
          <p:nvPr/>
        </p:nvSpPr>
        <p:spPr>
          <a:xfrm>
            <a:off x="800485" y="4979084"/>
            <a:ext cx="49875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250" u="none" cap="none" strike="noStrike">
                <a:solidFill>
                  <a:srgbClr val="3B225C"/>
                </a:solidFill>
                <a:latin typeface="Arial"/>
                <a:ea typeface="Arial"/>
                <a:cs typeface="Arial"/>
                <a:sym typeface="Arial"/>
              </a:rPr>
              <a:t>Michelle Chebet</a:t>
            </a:r>
            <a:endParaRPr/>
          </a:p>
        </p:txBody>
      </p:sp>
      <p:sp>
        <p:nvSpPr>
          <p:cNvPr id="547" name="Google Shape;547;p74"/>
          <p:cNvSpPr/>
          <p:nvPr/>
        </p:nvSpPr>
        <p:spPr>
          <a:xfrm>
            <a:off x="615758" y="5461028"/>
            <a:ext cx="5357100" cy="1195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7E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74"/>
          <p:cNvSpPr/>
          <p:nvPr/>
        </p:nvSpPr>
        <p:spPr>
          <a:xfrm>
            <a:off x="615758" y="5461028"/>
            <a:ext cx="5357100" cy="267900"/>
          </a:xfrm>
          <a:prstGeom prst="roundRect">
            <a:avLst>
              <a:gd fmla="val 30000" name="adj"/>
            </a:avLst>
          </a:prstGeom>
          <a:solidFill>
            <a:srgbClr val="3B22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74"/>
          <p:cNvSpPr/>
          <p:nvPr/>
        </p:nvSpPr>
        <p:spPr>
          <a:xfrm>
            <a:off x="615758" y="5598188"/>
            <a:ext cx="5357100" cy="130500"/>
          </a:xfrm>
          <a:prstGeom prst="rect">
            <a:avLst/>
          </a:prstGeom>
          <a:solidFill>
            <a:srgbClr val="3B22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74"/>
          <p:cNvSpPr txBox="1"/>
          <p:nvPr/>
        </p:nvSpPr>
        <p:spPr>
          <a:xfrm>
            <a:off x="800485" y="5461028"/>
            <a:ext cx="20526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300" u="none" cap="none" strike="noStrike">
                <a:solidFill>
                  <a:srgbClr val="FDD633"/>
                </a:solidFill>
                <a:latin typeface="Arial"/>
                <a:ea typeface="Arial"/>
                <a:cs typeface="Arial"/>
                <a:sym typeface="Arial"/>
              </a:rPr>
              <a:t>Group 4</a:t>
            </a:r>
            <a:r>
              <a:rPr b="1" i="0" lang="en-ZA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TRIO</a:t>
            </a:r>
            <a:endParaRPr/>
          </a:p>
        </p:txBody>
      </p:sp>
      <p:sp>
        <p:nvSpPr>
          <p:cNvPr id="551" name="Google Shape;551;p74"/>
          <p:cNvSpPr txBox="1"/>
          <p:nvPr/>
        </p:nvSpPr>
        <p:spPr>
          <a:xfrm>
            <a:off x="2750384" y="5461028"/>
            <a:ext cx="30378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Fri 16 Oct  ·  </a:t>
            </a:r>
            <a:r>
              <a:rPr b="1" lang="en-ZA" sz="1100">
                <a:solidFill>
                  <a:srgbClr val="FFFFFF"/>
                </a:solidFill>
              </a:rPr>
              <a:t>16:00 to 16:20</a:t>
            </a:r>
            <a:r>
              <a:rPr b="1" i="0" lang="en-ZA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·  Room B</a:t>
            </a:r>
            <a:endParaRPr sz="1700"/>
          </a:p>
        </p:txBody>
      </p:sp>
      <p:sp>
        <p:nvSpPr>
          <p:cNvPr id="552" name="Google Shape;552;p74"/>
          <p:cNvSpPr txBox="1"/>
          <p:nvPr/>
        </p:nvSpPr>
        <p:spPr>
          <a:xfrm>
            <a:off x="800485" y="5761474"/>
            <a:ext cx="3961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050" u="none" cap="none" strike="noStrike">
                <a:solidFill>
                  <a:srgbClr val="1B4F9C"/>
                </a:solidFill>
                <a:latin typeface="Arial"/>
                <a:ea typeface="Arial"/>
                <a:cs typeface="Arial"/>
                <a:sym typeface="Arial"/>
              </a:rPr>
              <a:t>4.5  </a:t>
            </a:r>
            <a:r>
              <a:rPr b="0" i="0" lang="en-ZA" sz="1050" u="none" cap="none" strike="noStrike">
                <a:solidFill>
                  <a:srgbClr val="2A2438"/>
                </a:solidFill>
                <a:latin typeface="Arial"/>
                <a:ea typeface="Arial"/>
                <a:cs typeface="Arial"/>
                <a:sym typeface="Arial"/>
              </a:rPr>
              <a:t>Deconstructing a transformer block</a:t>
            </a:r>
            <a:endParaRPr/>
          </a:p>
        </p:txBody>
      </p:sp>
      <p:sp>
        <p:nvSpPr>
          <p:cNvPr id="553" name="Google Shape;553;p74"/>
          <p:cNvSpPr txBox="1"/>
          <p:nvPr/>
        </p:nvSpPr>
        <p:spPr>
          <a:xfrm>
            <a:off x="4823434" y="5761474"/>
            <a:ext cx="964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800" u="none" cap="none" strike="noStrike">
                <a:solidFill>
                  <a:srgbClr val="1B4F9C"/>
                </a:solidFill>
                <a:latin typeface="Arial"/>
                <a:ea typeface="Arial"/>
                <a:cs typeface="Arial"/>
                <a:sym typeface="Arial"/>
              </a:rPr>
              <a:t>AI · 20 MIN</a:t>
            </a:r>
            <a:endParaRPr/>
          </a:p>
        </p:txBody>
      </p:sp>
      <p:sp>
        <p:nvSpPr>
          <p:cNvPr id="554" name="Google Shape;554;p74"/>
          <p:cNvSpPr txBox="1"/>
          <p:nvPr/>
        </p:nvSpPr>
        <p:spPr>
          <a:xfrm>
            <a:off x="800485" y="6047224"/>
            <a:ext cx="49875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250" u="none" cap="none" strike="noStrike">
                <a:solidFill>
                  <a:srgbClr val="3B225C"/>
                </a:solidFill>
                <a:latin typeface="Arial"/>
                <a:ea typeface="Arial"/>
                <a:cs typeface="Arial"/>
                <a:sym typeface="Arial"/>
              </a:rPr>
              <a:t>Dr. Collins Oduor Ondiek</a:t>
            </a:r>
            <a:endParaRPr/>
          </a:p>
        </p:txBody>
      </p:sp>
      <p:sp>
        <p:nvSpPr>
          <p:cNvPr id="555" name="Google Shape;555;p74"/>
          <p:cNvSpPr/>
          <p:nvPr/>
        </p:nvSpPr>
        <p:spPr>
          <a:xfrm>
            <a:off x="800485" y="6213775"/>
            <a:ext cx="4987500" cy="8700"/>
          </a:xfrm>
          <a:prstGeom prst="rect">
            <a:avLst/>
          </a:prstGeom>
          <a:solidFill>
            <a:srgbClr val="EFE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74"/>
          <p:cNvSpPr txBox="1"/>
          <p:nvPr/>
        </p:nvSpPr>
        <p:spPr>
          <a:xfrm>
            <a:off x="800485" y="6213775"/>
            <a:ext cx="49875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250" u="none" cap="none" strike="noStrike">
                <a:solidFill>
                  <a:srgbClr val="3B225C"/>
                </a:solidFill>
                <a:latin typeface="Arial"/>
                <a:ea typeface="Arial"/>
                <a:cs typeface="Arial"/>
                <a:sym typeface="Arial"/>
              </a:rPr>
              <a:t>Aicha Zindamoyen</a:t>
            </a:r>
            <a:endParaRPr/>
          </a:p>
        </p:txBody>
      </p:sp>
      <p:sp>
        <p:nvSpPr>
          <p:cNvPr id="557" name="Google Shape;557;p74"/>
          <p:cNvSpPr/>
          <p:nvPr/>
        </p:nvSpPr>
        <p:spPr>
          <a:xfrm>
            <a:off x="800485" y="6380327"/>
            <a:ext cx="4987500" cy="8700"/>
          </a:xfrm>
          <a:prstGeom prst="rect">
            <a:avLst/>
          </a:prstGeom>
          <a:solidFill>
            <a:srgbClr val="EFE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74"/>
          <p:cNvSpPr txBox="1"/>
          <p:nvPr/>
        </p:nvSpPr>
        <p:spPr>
          <a:xfrm>
            <a:off x="800485" y="6380327"/>
            <a:ext cx="49875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250" u="none" cap="none" strike="noStrike">
                <a:solidFill>
                  <a:srgbClr val="3B225C"/>
                </a:solidFill>
                <a:latin typeface="Arial"/>
                <a:ea typeface="Arial"/>
                <a:cs typeface="Arial"/>
                <a:sym typeface="Arial"/>
              </a:rPr>
              <a:t>Joy Dorcas Bisieri</a:t>
            </a:r>
            <a:endParaRPr/>
          </a:p>
        </p:txBody>
      </p:sp>
      <p:sp>
        <p:nvSpPr>
          <p:cNvPr id="559" name="Google Shape;559;p74"/>
          <p:cNvSpPr/>
          <p:nvPr/>
        </p:nvSpPr>
        <p:spPr>
          <a:xfrm>
            <a:off x="6219152" y="1257300"/>
            <a:ext cx="5357100" cy="1195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7E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74"/>
          <p:cNvSpPr/>
          <p:nvPr/>
        </p:nvSpPr>
        <p:spPr>
          <a:xfrm>
            <a:off x="6219152" y="1257300"/>
            <a:ext cx="5357100" cy="267900"/>
          </a:xfrm>
          <a:prstGeom prst="roundRect">
            <a:avLst>
              <a:gd fmla="val 30000" name="adj"/>
            </a:avLst>
          </a:prstGeom>
          <a:solidFill>
            <a:srgbClr val="3B22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74"/>
          <p:cNvSpPr/>
          <p:nvPr/>
        </p:nvSpPr>
        <p:spPr>
          <a:xfrm>
            <a:off x="6219152" y="1394460"/>
            <a:ext cx="5357100" cy="130500"/>
          </a:xfrm>
          <a:prstGeom prst="rect">
            <a:avLst/>
          </a:prstGeom>
          <a:solidFill>
            <a:srgbClr val="3B22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74"/>
          <p:cNvSpPr txBox="1"/>
          <p:nvPr/>
        </p:nvSpPr>
        <p:spPr>
          <a:xfrm>
            <a:off x="6403879" y="1257300"/>
            <a:ext cx="20526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300" u="none" cap="none" strike="noStrike">
                <a:solidFill>
                  <a:srgbClr val="FDD633"/>
                </a:solidFill>
                <a:latin typeface="Arial"/>
                <a:ea typeface="Arial"/>
                <a:cs typeface="Arial"/>
                <a:sym typeface="Arial"/>
              </a:rPr>
              <a:t>Group 5</a:t>
            </a:r>
            <a:r>
              <a:rPr b="1" i="0" lang="en-ZA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GROUP OF 4</a:t>
            </a:r>
            <a:endParaRPr/>
          </a:p>
        </p:txBody>
      </p:sp>
      <p:sp>
        <p:nvSpPr>
          <p:cNvPr id="563" name="Google Shape;563;p74"/>
          <p:cNvSpPr txBox="1"/>
          <p:nvPr/>
        </p:nvSpPr>
        <p:spPr>
          <a:xfrm>
            <a:off x="8353778" y="1257300"/>
            <a:ext cx="30378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Thu 15 Oct  ·  16:20 to 17:00  ·  Room A</a:t>
            </a:r>
            <a:endParaRPr sz="1700"/>
          </a:p>
        </p:txBody>
      </p:sp>
      <p:sp>
        <p:nvSpPr>
          <p:cNvPr id="564" name="Google Shape;564;p74"/>
          <p:cNvSpPr txBox="1"/>
          <p:nvPr/>
        </p:nvSpPr>
        <p:spPr>
          <a:xfrm>
            <a:off x="6403879" y="1557746"/>
            <a:ext cx="3961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050" u="none" cap="none" strike="noStrike">
                <a:solidFill>
                  <a:srgbClr val="9A4A0F"/>
                </a:solidFill>
                <a:latin typeface="Arial"/>
                <a:ea typeface="Arial"/>
                <a:cs typeface="Arial"/>
                <a:sym typeface="Arial"/>
              </a:rPr>
              <a:t>0.9  </a:t>
            </a:r>
            <a:r>
              <a:rPr b="0" i="0" lang="en-ZA" sz="1050" u="none" cap="none" strike="noStrike">
                <a:solidFill>
                  <a:srgbClr val="2A2438"/>
                </a:solidFill>
                <a:latin typeface="Arial"/>
                <a:ea typeface="Arial"/>
                <a:cs typeface="Arial"/>
                <a:sym typeface="Arial"/>
              </a:rPr>
              <a:t>Responsible, not responsible, uncertain</a:t>
            </a:r>
            <a:endParaRPr/>
          </a:p>
        </p:txBody>
      </p:sp>
      <p:sp>
        <p:nvSpPr>
          <p:cNvPr id="565" name="Google Shape;565;p74"/>
          <p:cNvSpPr txBox="1"/>
          <p:nvPr/>
        </p:nvSpPr>
        <p:spPr>
          <a:xfrm>
            <a:off x="10426828" y="1557746"/>
            <a:ext cx="964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800" u="none" cap="none" strike="noStrike">
                <a:solidFill>
                  <a:srgbClr val="9A4A0F"/>
                </a:solidFill>
                <a:latin typeface="Arial"/>
                <a:ea typeface="Arial"/>
                <a:cs typeface="Arial"/>
                <a:sym typeface="Arial"/>
              </a:rPr>
              <a:t>RI · 40 MIN</a:t>
            </a:r>
            <a:endParaRPr/>
          </a:p>
        </p:txBody>
      </p:sp>
      <p:sp>
        <p:nvSpPr>
          <p:cNvPr id="566" name="Google Shape;566;p74"/>
          <p:cNvSpPr txBox="1"/>
          <p:nvPr/>
        </p:nvSpPr>
        <p:spPr>
          <a:xfrm>
            <a:off x="6403879" y="1760220"/>
            <a:ext cx="49875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250" u="none" cap="none" strike="noStrike">
                <a:solidFill>
                  <a:srgbClr val="3B225C"/>
                </a:solidFill>
                <a:latin typeface="Arial"/>
                <a:ea typeface="Arial"/>
                <a:cs typeface="Arial"/>
                <a:sym typeface="Arial"/>
              </a:rPr>
              <a:t>Dr. Edward Ombui</a:t>
            </a:r>
            <a:endParaRPr/>
          </a:p>
        </p:txBody>
      </p:sp>
      <p:sp>
        <p:nvSpPr>
          <p:cNvPr id="567" name="Google Shape;567;p74"/>
          <p:cNvSpPr/>
          <p:nvPr/>
        </p:nvSpPr>
        <p:spPr>
          <a:xfrm>
            <a:off x="6403879" y="1926771"/>
            <a:ext cx="4987500" cy="8700"/>
          </a:xfrm>
          <a:prstGeom prst="rect">
            <a:avLst/>
          </a:prstGeom>
          <a:solidFill>
            <a:srgbClr val="EFE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74"/>
          <p:cNvSpPr txBox="1"/>
          <p:nvPr/>
        </p:nvSpPr>
        <p:spPr>
          <a:xfrm>
            <a:off x="6403879" y="1926771"/>
            <a:ext cx="49875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250" u="none" cap="none" strike="noStrike">
                <a:solidFill>
                  <a:srgbClr val="3B225C"/>
                </a:solidFill>
                <a:latin typeface="Arial"/>
                <a:ea typeface="Arial"/>
                <a:cs typeface="Arial"/>
                <a:sym typeface="Arial"/>
              </a:rPr>
              <a:t>Dr. Fidelis Kilonzo</a:t>
            </a:r>
            <a:endParaRPr/>
          </a:p>
        </p:txBody>
      </p:sp>
      <p:sp>
        <p:nvSpPr>
          <p:cNvPr id="569" name="Google Shape;569;p74"/>
          <p:cNvSpPr/>
          <p:nvPr/>
        </p:nvSpPr>
        <p:spPr>
          <a:xfrm>
            <a:off x="6403879" y="2093323"/>
            <a:ext cx="4987500" cy="8700"/>
          </a:xfrm>
          <a:prstGeom prst="rect">
            <a:avLst/>
          </a:prstGeom>
          <a:solidFill>
            <a:srgbClr val="EFE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74"/>
          <p:cNvSpPr txBox="1"/>
          <p:nvPr/>
        </p:nvSpPr>
        <p:spPr>
          <a:xfrm>
            <a:off x="6403879" y="2093323"/>
            <a:ext cx="49875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250" u="none" cap="none" strike="noStrike">
                <a:solidFill>
                  <a:srgbClr val="3B225C"/>
                </a:solidFill>
                <a:latin typeface="Arial"/>
                <a:ea typeface="Arial"/>
                <a:cs typeface="Arial"/>
                <a:sym typeface="Arial"/>
              </a:rPr>
              <a:t>Hillary Kavagi</a:t>
            </a:r>
            <a:endParaRPr/>
          </a:p>
        </p:txBody>
      </p:sp>
      <p:sp>
        <p:nvSpPr>
          <p:cNvPr id="571" name="Google Shape;571;p74"/>
          <p:cNvSpPr/>
          <p:nvPr/>
        </p:nvSpPr>
        <p:spPr>
          <a:xfrm>
            <a:off x="6403879" y="2259874"/>
            <a:ext cx="4987500" cy="8700"/>
          </a:xfrm>
          <a:prstGeom prst="rect">
            <a:avLst/>
          </a:prstGeom>
          <a:solidFill>
            <a:srgbClr val="EFE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74"/>
          <p:cNvSpPr txBox="1"/>
          <p:nvPr/>
        </p:nvSpPr>
        <p:spPr>
          <a:xfrm>
            <a:off x="6403879" y="2259874"/>
            <a:ext cx="49875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250" u="none" cap="none" strike="noStrike">
                <a:solidFill>
                  <a:srgbClr val="3B225C"/>
                </a:solidFill>
                <a:latin typeface="Arial"/>
                <a:ea typeface="Arial"/>
                <a:cs typeface="Arial"/>
                <a:sym typeface="Arial"/>
              </a:rPr>
              <a:t>Stanley K. Kimaita</a:t>
            </a:r>
            <a:endParaRPr/>
          </a:p>
        </p:txBody>
      </p:sp>
      <p:sp>
        <p:nvSpPr>
          <p:cNvPr id="573" name="Google Shape;573;p74"/>
          <p:cNvSpPr/>
          <p:nvPr/>
        </p:nvSpPr>
        <p:spPr>
          <a:xfrm>
            <a:off x="6219152" y="2658543"/>
            <a:ext cx="5357100" cy="1195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7E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74"/>
          <p:cNvSpPr/>
          <p:nvPr/>
        </p:nvSpPr>
        <p:spPr>
          <a:xfrm>
            <a:off x="6219152" y="2658543"/>
            <a:ext cx="5357100" cy="267900"/>
          </a:xfrm>
          <a:prstGeom prst="roundRect">
            <a:avLst>
              <a:gd fmla="val 30000" name="adj"/>
            </a:avLst>
          </a:prstGeom>
          <a:solidFill>
            <a:srgbClr val="3B22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74"/>
          <p:cNvSpPr/>
          <p:nvPr/>
        </p:nvSpPr>
        <p:spPr>
          <a:xfrm>
            <a:off x="6219152" y="2795703"/>
            <a:ext cx="5357100" cy="130500"/>
          </a:xfrm>
          <a:prstGeom prst="rect">
            <a:avLst/>
          </a:prstGeom>
          <a:solidFill>
            <a:srgbClr val="3B22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74"/>
          <p:cNvSpPr txBox="1"/>
          <p:nvPr/>
        </p:nvSpPr>
        <p:spPr>
          <a:xfrm>
            <a:off x="6403879" y="2658543"/>
            <a:ext cx="20526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300" u="none" cap="none" strike="noStrike">
                <a:solidFill>
                  <a:srgbClr val="FDD633"/>
                </a:solidFill>
                <a:latin typeface="Arial"/>
                <a:ea typeface="Arial"/>
                <a:cs typeface="Arial"/>
                <a:sym typeface="Arial"/>
              </a:rPr>
              <a:t>Group 6</a:t>
            </a:r>
            <a:r>
              <a:rPr b="1" i="0" lang="en-ZA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GROUP OF 4</a:t>
            </a:r>
            <a:endParaRPr/>
          </a:p>
        </p:txBody>
      </p:sp>
      <p:sp>
        <p:nvSpPr>
          <p:cNvPr id="577" name="Google Shape;577;p74"/>
          <p:cNvSpPr txBox="1"/>
          <p:nvPr/>
        </p:nvSpPr>
        <p:spPr>
          <a:xfrm>
            <a:off x="8353778" y="2658543"/>
            <a:ext cx="30378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Thu 15 Oct  ·  16:20 to 17:00  ·  Room B</a:t>
            </a:r>
            <a:endParaRPr sz="1700"/>
          </a:p>
        </p:txBody>
      </p:sp>
      <p:sp>
        <p:nvSpPr>
          <p:cNvPr id="578" name="Google Shape;578;p74"/>
          <p:cNvSpPr txBox="1"/>
          <p:nvPr/>
        </p:nvSpPr>
        <p:spPr>
          <a:xfrm>
            <a:off x="6403879" y="2958988"/>
            <a:ext cx="3961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050" u="none" cap="none" strike="noStrike">
                <a:solidFill>
                  <a:srgbClr val="9A4A0F"/>
                </a:solidFill>
                <a:latin typeface="Arial"/>
                <a:ea typeface="Arial"/>
                <a:cs typeface="Arial"/>
                <a:sym typeface="Arial"/>
              </a:rPr>
              <a:t>0.10  </a:t>
            </a:r>
            <a:r>
              <a:rPr b="0" i="0" lang="en-ZA" sz="1050" u="none" cap="none" strike="noStrike">
                <a:solidFill>
                  <a:srgbClr val="2A2438"/>
                </a:solidFill>
                <a:latin typeface="Arial"/>
                <a:ea typeface="Arial"/>
                <a:cs typeface="Arial"/>
                <a:sym typeface="Arial"/>
              </a:rPr>
              <a:t>Context, perspective and LLMs</a:t>
            </a:r>
            <a:endParaRPr/>
          </a:p>
        </p:txBody>
      </p:sp>
      <p:sp>
        <p:nvSpPr>
          <p:cNvPr id="579" name="Google Shape;579;p74"/>
          <p:cNvSpPr txBox="1"/>
          <p:nvPr/>
        </p:nvSpPr>
        <p:spPr>
          <a:xfrm>
            <a:off x="10426828" y="2958988"/>
            <a:ext cx="964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800" u="none" cap="none" strike="noStrike">
                <a:solidFill>
                  <a:srgbClr val="9A4A0F"/>
                </a:solidFill>
                <a:latin typeface="Arial"/>
                <a:ea typeface="Arial"/>
                <a:cs typeface="Arial"/>
                <a:sym typeface="Arial"/>
              </a:rPr>
              <a:t>RI · 40 MIN</a:t>
            </a:r>
            <a:endParaRPr/>
          </a:p>
        </p:txBody>
      </p:sp>
      <p:sp>
        <p:nvSpPr>
          <p:cNvPr id="580" name="Google Shape;580;p74"/>
          <p:cNvSpPr txBox="1"/>
          <p:nvPr/>
        </p:nvSpPr>
        <p:spPr>
          <a:xfrm>
            <a:off x="6403879" y="3161463"/>
            <a:ext cx="49875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250" u="none" cap="none" strike="noStrike">
                <a:solidFill>
                  <a:srgbClr val="3B225C"/>
                </a:solidFill>
                <a:latin typeface="Arial"/>
                <a:ea typeface="Arial"/>
                <a:cs typeface="Arial"/>
                <a:sym typeface="Arial"/>
              </a:rPr>
              <a:t>Dr. Joseph Onderi Orero</a:t>
            </a:r>
            <a:endParaRPr/>
          </a:p>
        </p:txBody>
      </p:sp>
      <p:sp>
        <p:nvSpPr>
          <p:cNvPr id="581" name="Google Shape;581;p74"/>
          <p:cNvSpPr/>
          <p:nvPr/>
        </p:nvSpPr>
        <p:spPr>
          <a:xfrm>
            <a:off x="6403879" y="3328014"/>
            <a:ext cx="4987500" cy="8700"/>
          </a:xfrm>
          <a:prstGeom prst="rect">
            <a:avLst/>
          </a:prstGeom>
          <a:solidFill>
            <a:srgbClr val="EFE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74"/>
          <p:cNvSpPr txBox="1"/>
          <p:nvPr/>
        </p:nvSpPr>
        <p:spPr>
          <a:xfrm>
            <a:off x="6403879" y="3328014"/>
            <a:ext cx="49875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250" u="none" cap="none" strike="noStrike">
                <a:solidFill>
                  <a:srgbClr val="3B225C"/>
                </a:solidFill>
                <a:latin typeface="Arial"/>
                <a:ea typeface="Arial"/>
                <a:cs typeface="Arial"/>
                <a:sym typeface="Arial"/>
              </a:rPr>
              <a:t>Dr. Eric Araka</a:t>
            </a:r>
            <a:endParaRPr/>
          </a:p>
        </p:txBody>
      </p:sp>
      <p:sp>
        <p:nvSpPr>
          <p:cNvPr id="583" name="Google Shape;583;p74"/>
          <p:cNvSpPr/>
          <p:nvPr/>
        </p:nvSpPr>
        <p:spPr>
          <a:xfrm>
            <a:off x="6403879" y="3494566"/>
            <a:ext cx="4987500" cy="8700"/>
          </a:xfrm>
          <a:prstGeom prst="rect">
            <a:avLst/>
          </a:prstGeom>
          <a:solidFill>
            <a:srgbClr val="EFE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74"/>
          <p:cNvSpPr txBox="1"/>
          <p:nvPr/>
        </p:nvSpPr>
        <p:spPr>
          <a:xfrm>
            <a:off x="6403879" y="3494566"/>
            <a:ext cx="49875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250" u="none" cap="none" strike="noStrike">
                <a:solidFill>
                  <a:srgbClr val="3B225C"/>
                </a:solidFill>
                <a:latin typeface="Arial"/>
                <a:ea typeface="Arial"/>
                <a:cs typeface="Arial"/>
                <a:sym typeface="Arial"/>
              </a:rPr>
              <a:t>Hilda Manegene</a:t>
            </a:r>
            <a:endParaRPr/>
          </a:p>
        </p:txBody>
      </p:sp>
      <p:sp>
        <p:nvSpPr>
          <p:cNvPr id="585" name="Google Shape;585;p74"/>
          <p:cNvSpPr/>
          <p:nvPr/>
        </p:nvSpPr>
        <p:spPr>
          <a:xfrm>
            <a:off x="6403879" y="3661117"/>
            <a:ext cx="4987500" cy="8700"/>
          </a:xfrm>
          <a:prstGeom prst="rect">
            <a:avLst/>
          </a:prstGeom>
          <a:solidFill>
            <a:srgbClr val="EFE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74"/>
          <p:cNvSpPr txBox="1"/>
          <p:nvPr/>
        </p:nvSpPr>
        <p:spPr>
          <a:xfrm>
            <a:off x="6403879" y="3661117"/>
            <a:ext cx="49875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250" u="none" cap="none" strike="noStrike">
                <a:solidFill>
                  <a:srgbClr val="3B225C"/>
                </a:solidFill>
                <a:latin typeface="Arial"/>
                <a:ea typeface="Arial"/>
                <a:cs typeface="Arial"/>
                <a:sym typeface="Arial"/>
              </a:rPr>
              <a:t>Moses Mataara</a:t>
            </a:r>
            <a:endParaRPr/>
          </a:p>
        </p:txBody>
      </p:sp>
      <p:sp>
        <p:nvSpPr>
          <p:cNvPr id="587" name="Google Shape;587;p74"/>
          <p:cNvSpPr/>
          <p:nvPr/>
        </p:nvSpPr>
        <p:spPr>
          <a:xfrm>
            <a:off x="6219152" y="4059785"/>
            <a:ext cx="5357100" cy="1195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7E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74"/>
          <p:cNvSpPr/>
          <p:nvPr/>
        </p:nvSpPr>
        <p:spPr>
          <a:xfrm>
            <a:off x="6219152" y="4059785"/>
            <a:ext cx="5357100" cy="267900"/>
          </a:xfrm>
          <a:prstGeom prst="roundRect">
            <a:avLst>
              <a:gd fmla="val 30000" name="adj"/>
            </a:avLst>
          </a:prstGeom>
          <a:solidFill>
            <a:srgbClr val="3B22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74"/>
          <p:cNvSpPr/>
          <p:nvPr/>
        </p:nvSpPr>
        <p:spPr>
          <a:xfrm>
            <a:off x="6219152" y="4196945"/>
            <a:ext cx="5357100" cy="130500"/>
          </a:xfrm>
          <a:prstGeom prst="rect">
            <a:avLst/>
          </a:prstGeom>
          <a:solidFill>
            <a:srgbClr val="3B22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74"/>
          <p:cNvSpPr txBox="1"/>
          <p:nvPr/>
        </p:nvSpPr>
        <p:spPr>
          <a:xfrm>
            <a:off x="6403879" y="4059785"/>
            <a:ext cx="20526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300" u="none" cap="none" strike="noStrike">
                <a:solidFill>
                  <a:srgbClr val="FDD633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r>
              <a:rPr b="1" i="0" lang="en-ZA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GROUP OF 4</a:t>
            </a:r>
            <a:endParaRPr/>
          </a:p>
        </p:txBody>
      </p:sp>
      <p:sp>
        <p:nvSpPr>
          <p:cNvPr id="591" name="Google Shape;591;p74"/>
          <p:cNvSpPr txBox="1"/>
          <p:nvPr/>
        </p:nvSpPr>
        <p:spPr>
          <a:xfrm>
            <a:off x="8353778" y="4059785"/>
            <a:ext cx="30378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Fri 16 Oct  ·  </a:t>
            </a:r>
            <a:r>
              <a:rPr b="1" lang="en-ZA" sz="1100">
                <a:solidFill>
                  <a:srgbClr val="FFFFFF"/>
                </a:solidFill>
              </a:rPr>
              <a:t>16:20 to 16:35</a:t>
            </a:r>
            <a:r>
              <a:rPr b="1" i="0" lang="en-ZA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·  Room A</a:t>
            </a:r>
            <a:endParaRPr sz="1700"/>
          </a:p>
        </p:txBody>
      </p:sp>
      <p:sp>
        <p:nvSpPr>
          <p:cNvPr id="592" name="Google Shape;592;p74"/>
          <p:cNvSpPr txBox="1"/>
          <p:nvPr/>
        </p:nvSpPr>
        <p:spPr>
          <a:xfrm>
            <a:off x="6403879" y="4360231"/>
            <a:ext cx="3961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050" u="none" cap="none" strike="noStrike">
                <a:solidFill>
                  <a:srgbClr val="9A4A0F"/>
                </a:solidFill>
                <a:latin typeface="Arial"/>
                <a:ea typeface="Arial"/>
                <a:cs typeface="Arial"/>
                <a:sym typeface="Arial"/>
              </a:rPr>
              <a:t>1.8  </a:t>
            </a:r>
            <a:r>
              <a:rPr b="0" i="0" lang="en-ZA" sz="1050" u="none" cap="none" strike="noStrike">
                <a:solidFill>
                  <a:srgbClr val="2A2438"/>
                </a:solidFill>
                <a:latin typeface="Arial"/>
                <a:ea typeface="Arial"/>
                <a:cs typeface="Arial"/>
                <a:sym typeface="Arial"/>
              </a:rPr>
              <a:t>Can versus should with LLMs</a:t>
            </a:r>
            <a:endParaRPr/>
          </a:p>
        </p:txBody>
      </p:sp>
      <p:sp>
        <p:nvSpPr>
          <p:cNvPr id="593" name="Google Shape;593;p74"/>
          <p:cNvSpPr txBox="1"/>
          <p:nvPr/>
        </p:nvSpPr>
        <p:spPr>
          <a:xfrm>
            <a:off x="10426828" y="4360231"/>
            <a:ext cx="964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800" u="none" cap="none" strike="noStrike">
                <a:solidFill>
                  <a:srgbClr val="9A4A0F"/>
                </a:solidFill>
                <a:latin typeface="Arial"/>
                <a:ea typeface="Arial"/>
                <a:cs typeface="Arial"/>
                <a:sym typeface="Arial"/>
              </a:rPr>
              <a:t>RI · 15 MIN</a:t>
            </a:r>
            <a:endParaRPr/>
          </a:p>
        </p:txBody>
      </p:sp>
      <p:sp>
        <p:nvSpPr>
          <p:cNvPr id="594" name="Google Shape;594;p74"/>
          <p:cNvSpPr txBox="1"/>
          <p:nvPr/>
        </p:nvSpPr>
        <p:spPr>
          <a:xfrm>
            <a:off x="6403879" y="4562705"/>
            <a:ext cx="49875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250" u="none" cap="none" strike="noStrike">
                <a:solidFill>
                  <a:srgbClr val="3B225C"/>
                </a:solidFill>
                <a:latin typeface="Arial"/>
                <a:ea typeface="Arial"/>
                <a:cs typeface="Arial"/>
                <a:sym typeface="Arial"/>
              </a:rPr>
              <a:t>Dr. Kennedy Kilel</a:t>
            </a:r>
            <a:endParaRPr/>
          </a:p>
        </p:txBody>
      </p:sp>
      <p:sp>
        <p:nvSpPr>
          <p:cNvPr id="595" name="Google Shape;595;p74"/>
          <p:cNvSpPr/>
          <p:nvPr/>
        </p:nvSpPr>
        <p:spPr>
          <a:xfrm>
            <a:off x="6403879" y="4729257"/>
            <a:ext cx="4987500" cy="8700"/>
          </a:xfrm>
          <a:prstGeom prst="rect">
            <a:avLst/>
          </a:prstGeom>
          <a:solidFill>
            <a:srgbClr val="EFE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74"/>
          <p:cNvSpPr txBox="1"/>
          <p:nvPr/>
        </p:nvSpPr>
        <p:spPr>
          <a:xfrm>
            <a:off x="6403879" y="4729257"/>
            <a:ext cx="49875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250" u="none" cap="none" strike="noStrike">
                <a:solidFill>
                  <a:srgbClr val="3B225C"/>
                </a:solidFill>
                <a:latin typeface="Arial"/>
                <a:ea typeface="Arial"/>
                <a:cs typeface="Arial"/>
                <a:sym typeface="Arial"/>
              </a:rPr>
              <a:t>Joel Mutevu</a:t>
            </a:r>
            <a:endParaRPr/>
          </a:p>
        </p:txBody>
      </p:sp>
      <p:sp>
        <p:nvSpPr>
          <p:cNvPr id="597" name="Google Shape;597;p74"/>
          <p:cNvSpPr/>
          <p:nvPr/>
        </p:nvSpPr>
        <p:spPr>
          <a:xfrm>
            <a:off x="6403879" y="4895808"/>
            <a:ext cx="4987500" cy="8700"/>
          </a:xfrm>
          <a:prstGeom prst="rect">
            <a:avLst/>
          </a:prstGeom>
          <a:solidFill>
            <a:srgbClr val="EFE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74"/>
          <p:cNvSpPr txBox="1"/>
          <p:nvPr/>
        </p:nvSpPr>
        <p:spPr>
          <a:xfrm>
            <a:off x="6403879" y="4895808"/>
            <a:ext cx="49875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250" u="none" cap="none" strike="noStrike">
                <a:solidFill>
                  <a:srgbClr val="3B225C"/>
                </a:solidFill>
                <a:latin typeface="Arial"/>
                <a:ea typeface="Arial"/>
                <a:cs typeface="Arial"/>
                <a:sym typeface="Arial"/>
              </a:rPr>
              <a:t>Daniel Simiyu</a:t>
            </a:r>
            <a:endParaRPr/>
          </a:p>
        </p:txBody>
      </p:sp>
      <p:sp>
        <p:nvSpPr>
          <p:cNvPr id="599" name="Google Shape;599;p74"/>
          <p:cNvSpPr/>
          <p:nvPr/>
        </p:nvSpPr>
        <p:spPr>
          <a:xfrm>
            <a:off x="6403879" y="5062360"/>
            <a:ext cx="4987500" cy="8700"/>
          </a:xfrm>
          <a:prstGeom prst="rect">
            <a:avLst/>
          </a:prstGeom>
          <a:solidFill>
            <a:srgbClr val="EFE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74"/>
          <p:cNvSpPr txBox="1"/>
          <p:nvPr/>
        </p:nvSpPr>
        <p:spPr>
          <a:xfrm>
            <a:off x="6403879" y="5062360"/>
            <a:ext cx="49875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250" u="none" cap="none" strike="noStrike">
                <a:solidFill>
                  <a:srgbClr val="3B225C"/>
                </a:solidFill>
                <a:latin typeface="Arial"/>
                <a:ea typeface="Arial"/>
                <a:cs typeface="Arial"/>
                <a:sym typeface="Arial"/>
              </a:rPr>
              <a:t>Mary Wairimu Ndirangu</a:t>
            </a:r>
            <a:endParaRPr/>
          </a:p>
        </p:txBody>
      </p:sp>
      <p:sp>
        <p:nvSpPr>
          <p:cNvPr id="601" name="Google Shape;601;p74"/>
          <p:cNvSpPr/>
          <p:nvPr/>
        </p:nvSpPr>
        <p:spPr>
          <a:xfrm>
            <a:off x="6219152" y="5461028"/>
            <a:ext cx="5357100" cy="1195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7E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74"/>
          <p:cNvSpPr/>
          <p:nvPr/>
        </p:nvSpPr>
        <p:spPr>
          <a:xfrm>
            <a:off x="6219152" y="5461028"/>
            <a:ext cx="5357100" cy="267900"/>
          </a:xfrm>
          <a:prstGeom prst="roundRect">
            <a:avLst>
              <a:gd fmla="val 30000" name="adj"/>
            </a:avLst>
          </a:prstGeom>
          <a:solidFill>
            <a:srgbClr val="3B22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74"/>
          <p:cNvSpPr/>
          <p:nvPr/>
        </p:nvSpPr>
        <p:spPr>
          <a:xfrm>
            <a:off x="6219152" y="5598188"/>
            <a:ext cx="5357100" cy="130500"/>
          </a:xfrm>
          <a:prstGeom prst="rect">
            <a:avLst/>
          </a:prstGeom>
          <a:solidFill>
            <a:srgbClr val="3B22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74"/>
          <p:cNvSpPr txBox="1"/>
          <p:nvPr/>
        </p:nvSpPr>
        <p:spPr>
          <a:xfrm>
            <a:off x="6403879" y="5461028"/>
            <a:ext cx="20526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300" u="none" cap="none" strike="noStrike">
                <a:solidFill>
                  <a:srgbClr val="FDD633"/>
                </a:solidFill>
                <a:latin typeface="Arial"/>
                <a:ea typeface="Arial"/>
                <a:cs typeface="Arial"/>
                <a:sym typeface="Arial"/>
              </a:rPr>
              <a:t>Group 8</a:t>
            </a:r>
            <a:r>
              <a:rPr b="1" i="0" lang="en-ZA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GROUP OF 4</a:t>
            </a:r>
            <a:endParaRPr/>
          </a:p>
        </p:txBody>
      </p:sp>
      <p:sp>
        <p:nvSpPr>
          <p:cNvPr id="605" name="Google Shape;605;p74"/>
          <p:cNvSpPr txBox="1"/>
          <p:nvPr/>
        </p:nvSpPr>
        <p:spPr>
          <a:xfrm>
            <a:off x="8353778" y="5461028"/>
            <a:ext cx="30378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Fri 16 Oct  ·  </a:t>
            </a:r>
            <a:r>
              <a:rPr b="1" lang="en-ZA" sz="1100">
                <a:solidFill>
                  <a:srgbClr val="FFFFFF"/>
                </a:solidFill>
              </a:rPr>
              <a:t>16:20 to 17:05  ·  Room B</a:t>
            </a:r>
            <a:endParaRPr sz="1700"/>
          </a:p>
        </p:txBody>
      </p:sp>
      <p:sp>
        <p:nvSpPr>
          <p:cNvPr id="606" name="Google Shape;606;p74"/>
          <p:cNvSpPr txBox="1"/>
          <p:nvPr/>
        </p:nvSpPr>
        <p:spPr>
          <a:xfrm>
            <a:off x="6403879" y="5761474"/>
            <a:ext cx="3961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050" u="none" cap="none" strike="noStrike">
                <a:solidFill>
                  <a:srgbClr val="9A4A0F"/>
                </a:solidFill>
                <a:latin typeface="Arial"/>
                <a:ea typeface="Arial"/>
                <a:cs typeface="Arial"/>
                <a:sym typeface="Arial"/>
              </a:rPr>
              <a:t>1.10  </a:t>
            </a:r>
            <a:r>
              <a:rPr b="0" i="0" lang="en-ZA" sz="1050" u="none" cap="none" strike="noStrike">
                <a:solidFill>
                  <a:srgbClr val="2A2438"/>
                </a:solidFill>
                <a:latin typeface="Arial"/>
                <a:ea typeface="Arial"/>
                <a:cs typeface="Arial"/>
                <a:sym typeface="Arial"/>
              </a:rPr>
              <a:t>The Ubuntu lens: individual and collective values</a:t>
            </a:r>
            <a:endParaRPr/>
          </a:p>
        </p:txBody>
      </p:sp>
      <p:sp>
        <p:nvSpPr>
          <p:cNvPr id="607" name="Google Shape;607;p74"/>
          <p:cNvSpPr txBox="1"/>
          <p:nvPr/>
        </p:nvSpPr>
        <p:spPr>
          <a:xfrm>
            <a:off x="10426828" y="5761474"/>
            <a:ext cx="964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800" u="none" cap="none" strike="noStrike">
                <a:solidFill>
                  <a:srgbClr val="9A4A0F"/>
                </a:solidFill>
                <a:latin typeface="Arial"/>
                <a:ea typeface="Arial"/>
                <a:cs typeface="Arial"/>
                <a:sym typeface="Arial"/>
              </a:rPr>
              <a:t>RI · 45 MIN</a:t>
            </a:r>
            <a:endParaRPr/>
          </a:p>
        </p:txBody>
      </p:sp>
      <p:sp>
        <p:nvSpPr>
          <p:cNvPr id="608" name="Google Shape;608;p74"/>
          <p:cNvSpPr txBox="1"/>
          <p:nvPr/>
        </p:nvSpPr>
        <p:spPr>
          <a:xfrm>
            <a:off x="6403879" y="5963948"/>
            <a:ext cx="49875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250" u="none" cap="none" strike="noStrike">
                <a:solidFill>
                  <a:srgbClr val="3B225C"/>
                </a:solidFill>
                <a:latin typeface="Arial"/>
                <a:ea typeface="Arial"/>
                <a:cs typeface="Arial"/>
                <a:sym typeface="Arial"/>
              </a:rPr>
              <a:t>Dr. Rogers Ochenge</a:t>
            </a:r>
            <a:endParaRPr/>
          </a:p>
        </p:txBody>
      </p:sp>
      <p:sp>
        <p:nvSpPr>
          <p:cNvPr id="609" name="Google Shape;609;p74"/>
          <p:cNvSpPr/>
          <p:nvPr/>
        </p:nvSpPr>
        <p:spPr>
          <a:xfrm>
            <a:off x="6403879" y="6130499"/>
            <a:ext cx="4987500" cy="8700"/>
          </a:xfrm>
          <a:prstGeom prst="rect">
            <a:avLst/>
          </a:prstGeom>
          <a:solidFill>
            <a:srgbClr val="EFE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74"/>
          <p:cNvSpPr txBox="1"/>
          <p:nvPr/>
        </p:nvSpPr>
        <p:spPr>
          <a:xfrm>
            <a:off x="6403879" y="6130499"/>
            <a:ext cx="49875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250" u="none" cap="none" strike="noStrike">
                <a:solidFill>
                  <a:srgbClr val="3B225C"/>
                </a:solidFill>
                <a:latin typeface="Arial"/>
                <a:ea typeface="Arial"/>
                <a:cs typeface="Arial"/>
                <a:sym typeface="Arial"/>
              </a:rPr>
              <a:t>Victor Kemboi</a:t>
            </a:r>
            <a:endParaRPr/>
          </a:p>
        </p:txBody>
      </p:sp>
      <p:sp>
        <p:nvSpPr>
          <p:cNvPr id="611" name="Google Shape;611;p74"/>
          <p:cNvSpPr/>
          <p:nvPr/>
        </p:nvSpPr>
        <p:spPr>
          <a:xfrm>
            <a:off x="6403879" y="6297051"/>
            <a:ext cx="4987500" cy="8700"/>
          </a:xfrm>
          <a:prstGeom prst="rect">
            <a:avLst/>
          </a:prstGeom>
          <a:solidFill>
            <a:srgbClr val="EFE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74"/>
          <p:cNvSpPr txBox="1"/>
          <p:nvPr/>
        </p:nvSpPr>
        <p:spPr>
          <a:xfrm>
            <a:off x="6403879" y="6297051"/>
            <a:ext cx="49875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250" u="none" cap="none" strike="noStrike">
                <a:solidFill>
                  <a:srgbClr val="3B225C"/>
                </a:solidFill>
                <a:latin typeface="Arial"/>
                <a:ea typeface="Arial"/>
                <a:cs typeface="Arial"/>
                <a:sym typeface="Arial"/>
              </a:rPr>
              <a:t>Paul Kweyu</a:t>
            </a:r>
            <a:endParaRPr/>
          </a:p>
        </p:txBody>
      </p:sp>
      <p:sp>
        <p:nvSpPr>
          <p:cNvPr id="613" name="Google Shape;613;p74"/>
          <p:cNvSpPr/>
          <p:nvPr/>
        </p:nvSpPr>
        <p:spPr>
          <a:xfrm>
            <a:off x="6403879" y="6463602"/>
            <a:ext cx="4987500" cy="8700"/>
          </a:xfrm>
          <a:prstGeom prst="rect">
            <a:avLst/>
          </a:prstGeom>
          <a:solidFill>
            <a:srgbClr val="EFE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74"/>
          <p:cNvSpPr txBox="1"/>
          <p:nvPr/>
        </p:nvSpPr>
        <p:spPr>
          <a:xfrm>
            <a:off x="6403879" y="6463602"/>
            <a:ext cx="49875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250" u="none" cap="none" strike="noStrike">
                <a:solidFill>
                  <a:srgbClr val="3B225C"/>
                </a:solidFill>
                <a:latin typeface="Arial"/>
                <a:ea typeface="Arial"/>
                <a:cs typeface="Arial"/>
                <a:sym typeface="Arial"/>
              </a:rPr>
              <a:t>Susan Gitau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4" name="Google Shape;654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76"/>
          <p:cNvSpPr/>
          <p:nvPr/>
        </p:nvSpPr>
        <p:spPr>
          <a:xfrm>
            <a:off x="419100" y="815980"/>
            <a:ext cx="109728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lang="en-ZA" sz="6700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Questions? 🤔  </a:t>
            </a:r>
            <a:endParaRPr b="0" i="0" sz="4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UCL AIMS Session 1">
      <a:dk1>
        <a:srgbClr val="000000"/>
      </a:dk1>
      <a:lt1>
        <a:srgbClr val="FFFFFF"/>
      </a:lt1>
      <a:dk2>
        <a:srgbClr val="361A54"/>
      </a:dk2>
      <a:lt2>
        <a:srgbClr val="E8E8E8"/>
      </a:lt2>
      <a:accent1>
        <a:srgbClr val="FDD633"/>
      </a:accent1>
      <a:accent2>
        <a:srgbClr val="E97132"/>
      </a:accent2>
      <a:accent3>
        <a:srgbClr val="BA82FF"/>
      </a:accent3>
      <a:accent4>
        <a:srgbClr val="993BFF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UCL AIMS Session 1">
      <a:dk1>
        <a:srgbClr val="000000"/>
      </a:dk1>
      <a:lt1>
        <a:srgbClr val="FFFFFF"/>
      </a:lt1>
      <a:dk2>
        <a:srgbClr val="361A54"/>
      </a:dk2>
      <a:lt2>
        <a:srgbClr val="E8E8E8"/>
      </a:lt2>
      <a:accent1>
        <a:srgbClr val="FDD633"/>
      </a:accent1>
      <a:accent2>
        <a:srgbClr val="E97132"/>
      </a:accent2>
      <a:accent3>
        <a:srgbClr val="BA82FF"/>
      </a:accent3>
      <a:accent4>
        <a:srgbClr val="993BFF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